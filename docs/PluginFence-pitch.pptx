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38BDF8"/>
            </a:solidFill>
            <a:effectLst/>
          </c:spPr>
          <c:invertIfNegative val="0"/>
          <c:dLbls>
            <c:numFmt formatCode="+0" sourceLinked="0"/>
            <c:txPr>
              <a:bodyPr/>
              <a:lstStyle/>
              <a:p>
                <a:pPr>
                  <a:defRPr b="0" i="0" strike="noStrike" sz="900" u="none">
                    <a:solidFill>
                      <a:srgbClr val="F1F5F9"/>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File outside open projects</c:v>
                  </c:pt>
                  <c:pt idx="1">
                    <c:v>Plaintext protocol</c:v>
                  </c:pt>
                  <c:pt idx="2">
                    <c:v>Raw IP destination</c:v>
                  </c:pt>
                  <c:pt idx="3">
                    <c:v>Network: new destination</c:v>
                  </c:pt>
                  <c:pt idx="4">
                    <c:v>New behaviour after update</c:v>
                  </c:pt>
                  <c:pt idx="5">
                    <c:v>Process execution</c:v>
                  </c:pt>
                  <c:pt idx="6">
                    <c:v>Secret environment variable</c:v>
                  </c:pt>
                  <c:pt idx="7">
                    <c:v>Other sensitive file (.env, *.pem…)</c:v>
                  </c:pt>
                  <c:pt idx="8">
                    <c:v>Sensitive → network within 10 s</c:v>
                  </c:pt>
                  <c:pt idx="9">
                    <c:v>Credential store (ssh, aws, kube…)</c:v>
                  </c:pt>
                </c:lvl>
              </c:multiLvlStrCache>
            </c:multiLvlStrRef>
          </c:cat>
          <c:val>
            <c:numRef>
              <c:f>Sheet1!$B$2:$B$11</c:f>
              <c:numCache>
                <c:formatCode>General</c:formatCode>
                <c:ptCount val="10"/>
                <c:pt idx="0">
                  <c:v>15</c:v>
                </c:pt>
                <c:pt idx="1">
                  <c:v>20</c:v>
                </c:pt>
                <c:pt idx="2">
                  <c:v>20</c:v>
                </c:pt>
                <c:pt idx="3">
                  <c:v>20</c:v>
                </c:pt>
                <c:pt idx="4">
                  <c:v>20</c:v>
                </c:pt>
                <c:pt idx="5">
                  <c:v>25</c:v>
                </c:pt>
                <c:pt idx="6">
                  <c:v>45</c:v>
                </c:pt>
                <c:pt idx="7">
                  <c:v>50</c:v>
                </c:pt>
                <c:pt idx="8">
                  <c:v>50</c:v>
                </c:pt>
                <c:pt idx="9">
                  <c:v>60</c:v>
                </c:pt>
              </c:numCache>
            </c:numRef>
          </c:val>
        </c:ser>
        <c:dLbls>
          <c:numFmt formatCode="+0" sourceLinked="0"/>
          <c:txPr>
            <a:bodyPr/>
            <a:lstStyle/>
            <a:p>
              <a:pPr>
                <a:defRPr b="0" i="0" strike="noStrike" sz="900" u="none">
                  <a:solidFill>
                    <a:srgbClr val="F1F5F9"/>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CBD5E1"/>
                </a:solidFill>
                <a:latin typeface="Calibri"/>
              </a:defRPr>
            </a:pPr>
            <a:endParaRPr lang="en-US"/>
          </a:p>
        </c:txPr>
        <c:crossAx val="2094734552"/>
        <c:crosses val="autoZero"/>
        <c:auto val="1"/>
        <c:lblAlgn val="ctr"/>
        <c:noMultiLvlLbl val="1"/>
      </c:catAx>
      <c:valAx>
        <c:axId val="2094734552"/>
        <c:scaling>
          <c:orientation val="minMax"/>
          <c:max val="7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51E30"/>
        </a:solidFill>
        <a:ln>
          <a:noFill/>
        </a:ln>
        <a:effectLst/>
      </c:spPr>
    </c:plotArea>
    <c:plotVisOnly val="1"/>
    <c:dispBlanksAs val="span"/>
  </c:chart>
  <c:spPr>
    <a:solidFill>
      <a:srgbClr val="151E3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PluginFence is a runtime firewall for IntelliJ plugins. Every third-party plugin you install runs with the full rights of the IDE. PluginFence sits between the plugin and the machine, watches what the plugin actually does, blocks dangerous access, and tells you when an update starts doing things the previous version never did.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browser asks before a site uses your camera; your phone asks before an app reads your location. IntelliJ plugins ask for nothing - JetBrains says so in its own docs: no fine-grained permissions, no sandbox. And that is exploited: in June 2026 JetBrains removed 15 plugins that posed as AI utilities and quietly shipped developers' API keys to a C2 server over plain HTTP. JetBrains' own verifier is a compatibility checker, not a malware scanner. So today a developer cannot answer basic questions: why does this plugin need my SSH keys, which plugin just talked to that IP, what did this update add?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scanners and AI models look at code and predict: 'this plugin may access credentials'. The plugin runs anyway. PluginFence observes the operation while it happens and can prevent it - and it tells you exactly which plugin, which version, which API call. Every plugin gets a policy over six capabilities: project files, files outside the project, sensitive files, environment secrets, network and system commands, each ALLOW, ASK or BLOCK. Blocked operations never execute. No LLM is involved anywhere - it is deterministic and local.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One: a JVM agent started with -javaagent uses ASM to rewrite 122 sensitive call sites - file, environment, process and network APIs - but only in classes loaded by a third-party plugin's class loader; platform and JDK code are untouched, and every event is attributed to the real plugin descriptor. Two: a tiny bootstrap bridge on the boot class path, so a single GuardBridge is visible from every class loader; hooks build a redacted request, ask for a decision and either run the original call or throw. If nothing is registered it just allows and buffers, so the IDE can never be bricked. Three: the Kotlin IntelliJ plugin evaluates policy synchronously in microseconds and does baselines, drift, correlation and the UI in the background.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Blocking is only half of it. PluginFence keeps a deterministic behaviour baseline per plugin version - which capabilities, hosts, executables and sensitive categories it touched. When an update arrives, the Drift tab shows exactly what the new version does that the old one never did, with a risk rating. And it correlates sequences: a sensitive file read followed by a brand-new outbound connection within ten seconds is treated as secret exfiltration and the network leg is blocked outright. The risk score is a transparent table of weights, not a black box.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Demo Helper 1.0.0, a well-behaved plugin. It reads a project file and calls a loopback service - two ALLOWED rows, and PluginFence records a baseline for 1.0.0. Act two: the sandbox gets Demo Helper 1.1.0, a real different build with the same plugin ID. Secret read of ~/.ssh/id_rsa: blocked, CRITICAL, because it is a credential store and 1.0.0 never did this. Network exfiltration to a raw IP: prevented with ASK and a notification. Process execution: prevented; Allow Once, retry, allowed and recorded - ASK never freezes the IDE. Then the attack sequence: key read, connection 0.6 seconds later - the correlation rule blocks the network leg and the Overview shows the attack chain at risk 100. And the Drift tab answers the question every update should answer: three new capabilities.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proof of concept, not a slide-ware idea: 122 rules, per-plugin policy that persists, unit and integration tests that run a forked JVM with the real agent, CI on every push, and a clean Plugin Verifier run. We are honest about the limits: it is policy enforcement over a documented list of call sites, not process isolation - native code, Unsafe, reflection into JDK internals and tampering with the agent are out of scope and written down in the threat model. Next: rule configuration UI, incident export, signed org-wide policy packs and OS-level companions for native activity.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guess what a plugin might do - watch what it does, and stop it. The repo is public under MIT; two Gradle tasks run the whole demo. Thank you - happy to take questions.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5852160" y="685800"/>
            <a:ext cx="3017520" cy="3017520"/>
          </a:xfrm>
          <a:prstGeom prst="rect">
            <a:avLst/>
          </a:prstGeom>
        </p:spPr>
      </p:pic>
      <p:sp>
        <p:nvSpPr>
          <p:cNvPr id="3" name="Text 0"/>
          <p:cNvSpPr txBox="1"/>
          <p:nvPr/>
        </p:nvSpPr>
        <p:spPr>
          <a:xfrm>
            <a:off x="548640" y="1188720"/>
            <a:ext cx="6858000" cy="914400"/>
          </a:xfrm>
          <a:prstGeom prst="rect">
            <a:avLst/>
          </a:prstGeom>
          <a:noFill/>
          <a:ln/>
        </p:spPr>
        <p:txBody>
          <a:bodyPr wrap="square" lIns="0" tIns="0" rIns="0" bIns="0" rtlCol="0" anchor="t"/>
          <a:lstStyle/>
          <a:p>
            <a:pPr indent="0" marL="0">
              <a:buNone/>
            </a:pPr>
            <a:r>
              <a:rPr lang="en-US" sz="5400" b="1" spc="600" kern="0" dirty="0">
                <a:solidFill>
                  <a:srgbClr val="FFFFFF"/>
                </a:solidFill>
                <a:latin typeface="Calibri" pitchFamily="34" charset="0"/>
                <a:ea typeface="Calibri" pitchFamily="34" charset="-122"/>
                <a:cs typeface="Calibri" pitchFamily="34" charset="-120"/>
              </a:rPr>
              <a:t>PLUGINFENCE</a:t>
            </a:r>
            <a:endParaRPr lang="en-US" sz="5400" dirty="0"/>
          </a:p>
        </p:txBody>
      </p:sp>
      <p:sp>
        <p:nvSpPr>
          <p:cNvPr id="4" name="Text 1"/>
          <p:cNvSpPr txBox="1"/>
          <p:nvPr/>
        </p:nvSpPr>
        <p:spPr>
          <a:xfrm>
            <a:off x="548640" y="2103120"/>
            <a:ext cx="6858000" cy="457200"/>
          </a:xfrm>
          <a:prstGeom prst="rect">
            <a:avLst/>
          </a:prstGeom>
          <a:noFill/>
          <a:ln/>
        </p:spPr>
        <p:txBody>
          <a:bodyPr wrap="square" lIns="0" tIns="0" rIns="0" bIns="0" rtlCol="0" anchor="t"/>
          <a:lstStyle/>
          <a:p>
            <a:pPr indent="0" marL="0">
              <a:buNone/>
            </a:pPr>
            <a:r>
              <a:rPr lang="en-US" sz="2400" dirty="0">
                <a:solidFill>
                  <a:srgbClr val="38BDF8"/>
                </a:solidFill>
                <a:latin typeface="Calibri" pitchFamily="34" charset="0"/>
                <a:ea typeface="Calibri" pitchFamily="34" charset="-122"/>
                <a:cs typeface="Calibri" pitchFamily="34" charset="-120"/>
              </a:rPr>
              <a:t>A runtime firewall for IntelliJ plugins.</a:t>
            </a:r>
            <a:endParaRPr lang="en-US" sz="2400" dirty="0"/>
          </a:p>
        </p:txBody>
      </p:sp>
      <p:sp>
        <p:nvSpPr>
          <p:cNvPr id="5" name="Text 2"/>
          <p:cNvSpPr txBox="1"/>
          <p:nvPr/>
        </p:nvSpPr>
        <p:spPr>
          <a:xfrm>
            <a:off x="548640" y="2651760"/>
            <a:ext cx="5486400" cy="68580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Watches what third-party plugins actually do, blocks dangerous access, and shows what an update can do that the previous version never could.</a:t>
            </a:r>
            <a:endParaRPr lang="en-US" sz="1400" dirty="0"/>
          </a:p>
        </p:txBody>
      </p:sp>
      <p:sp>
        <p:nvSpPr>
          <p:cNvPr id="6" name="Shape 3"/>
          <p:cNvSpPr/>
          <p:nvPr/>
        </p:nvSpPr>
        <p:spPr>
          <a:xfrm>
            <a:off x="548640" y="3611880"/>
            <a:ext cx="914400" cy="384048"/>
          </a:xfrm>
          <a:prstGeom prst="roundRect">
            <a:avLst>
              <a:gd name="adj" fmla="val 14286"/>
            </a:avLst>
          </a:prstGeom>
          <a:solidFill>
            <a:srgbClr val="151E30"/>
          </a:solidFill>
          <a:ln w="9525">
            <a:solidFill>
              <a:srgbClr val="223047"/>
            </a:solidFill>
            <a:prstDash val="solid"/>
          </a:ln>
        </p:spPr>
      </p:sp>
      <p:sp>
        <p:nvSpPr>
          <p:cNvPr id="7" name="Text 4"/>
          <p:cNvSpPr txBox="1"/>
          <p:nvPr/>
        </p:nvSpPr>
        <p:spPr>
          <a:xfrm>
            <a:off x="548640" y="3611880"/>
            <a:ext cx="914400" cy="384048"/>
          </a:xfrm>
          <a:prstGeom prst="rect">
            <a:avLst/>
          </a:prstGeom>
          <a:noFill/>
          <a:ln/>
        </p:spPr>
        <p:txBody>
          <a:bodyPr wrap="square" lIns="0" tIns="0" rIns="0" bIns="0"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Plugin</a:t>
            </a:r>
            <a:endParaRPr lang="en-US" sz="1100" dirty="0"/>
          </a:p>
        </p:txBody>
      </p:sp>
      <p:sp>
        <p:nvSpPr>
          <p:cNvPr id="8" name="Text 5"/>
          <p:cNvSpPr txBox="1"/>
          <p:nvPr/>
        </p:nvSpPr>
        <p:spPr>
          <a:xfrm>
            <a:off x="1508760" y="361188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1828800" y="3611880"/>
            <a:ext cx="1417320" cy="384048"/>
          </a:xfrm>
          <a:prstGeom prst="roundRect">
            <a:avLst>
              <a:gd name="adj" fmla="val 14286"/>
            </a:avLst>
          </a:prstGeom>
          <a:solidFill>
            <a:srgbClr val="123A52"/>
          </a:solidFill>
          <a:ln w="9525">
            <a:solidFill>
              <a:srgbClr val="38BDF8"/>
            </a:solidFill>
            <a:prstDash val="solid"/>
          </a:ln>
        </p:spPr>
      </p:sp>
      <p:sp>
        <p:nvSpPr>
          <p:cNvPr id="10" name="Text 7"/>
          <p:cNvSpPr txBox="1"/>
          <p:nvPr/>
        </p:nvSpPr>
        <p:spPr>
          <a:xfrm>
            <a:off x="1828800" y="3611880"/>
            <a:ext cx="1417320" cy="384048"/>
          </a:xfrm>
          <a:prstGeom prst="rect">
            <a:avLst/>
          </a:prstGeom>
          <a:noFill/>
          <a:ln/>
        </p:spPr>
        <p:txBody>
          <a:bodyPr wrap="square" lIns="0" tIns="0" rIns="0" bIns="0" rtlCol="0" anchor="ctr"/>
          <a:lstStyle/>
          <a:p>
            <a:pPr algn="ctr" indent="0" marL="0">
              <a:buNone/>
            </a:pPr>
            <a:r>
              <a:rPr lang="en-US" sz="1100" b="1" dirty="0">
                <a:solidFill>
                  <a:srgbClr val="38BDF8"/>
                </a:solidFill>
                <a:latin typeface="Calibri" pitchFamily="34" charset="0"/>
                <a:ea typeface="Calibri" pitchFamily="34" charset="-122"/>
                <a:cs typeface="Calibri" pitchFamily="34" charset="-120"/>
              </a:rPr>
              <a:t>PLUGINFENCE</a:t>
            </a:r>
            <a:endParaRPr lang="en-US" sz="1100" dirty="0"/>
          </a:p>
        </p:txBody>
      </p:sp>
      <p:sp>
        <p:nvSpPr>
          <p:cNvPr id="11" name="Text 8"/>
          <p:cNvSpPr txBox="1"/>
          <p:nvPr/>
        </p:nvSpPr>
        <p:spPr>
          <a:xfrm>
            <a:off x="3291840" y="361188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3611880" y="3611880"/>
            <a:ext cx="1234440" cy="384048"/>
          </a:xfrm>
          <a:prstGeom prst="roundRect">
            <a:avLst>
              <a:gd name="adj" fmla="val 14286"/>
            </a:avLst>
          </a:prstGeom>
          <a:solidFill>
            <a:srgbClr val="151E30"/>
          </a:solidFill>
          <a:ln w="9525">
            <a:solidFill>
              <a:srgbClr val="223047"/>
            </a:solidFill>
            <a:prstDash val="solid"/>
          </a:ln>
        </p:spPr>
      </p:sp>
      <p:sp>
        <p:nvSpPr>
          <p:cNvPr id="13" name="Text 10"/>
          <p:cNvSpPr txBox="1"/>
          <p:nvPr/>
        </p:nvSpPr>
        <p:spPr>
          <a:xfrm>
            <a:off x="3611880" y="3611880"/>
            <a:ext cx="1234440" cy="384048"/>
          </a:xfrm>
          <a:prstGeom prst="rect">
            <a:avLst/>
          </a:prstGeom>
          <a:noFill/>
          <a:ln/>
        </p:spPr>
        <p:txBody>
          <a:bodyPr wrap="square" lIns="0" tIns="0" rIns="0" bIns="0"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Policy engine</a:t>
            </a:r>
            <a:endParaRPr lang="en-US" sz="1100" dirty="0"/>
          </a:p>
        </p:txBody>
      </p:sp>
      <p:sp>
        <p:nvSpPr>
          <p:cNvPr id="14" name="Text 11"/>
          <p:cNvSpPr txBox="1"/>
          <p:nvPr/>
        </p:nvSpPr>
        <p:spPr>
          <a:xfrm>
            <a:off x="4892040" y="361188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5212080" y="3675888"/>
            <a:ext cx="731520" cy="256032"/>
          </a:xfrm>
          <a:prstGeom prst="roundRect">
            <a:avLst>
              <a:gd name="adj" fmla="val 50000"/>
            </a:avLst>
          </a:prstGeom>
          <a:solidFill>
            <a:srgbClr val="22C55E"/>
          </a:solidFill>
          <a:ln w="12700">
            <a:solidFill>
              <a:srgbClr val="22C55E"/>
            </a:solidFill>
            <a:prstDash val="solid"/>
          </a:ln>
        </p:spPr>
      </p:sp>
      <p:sp>
        <p:nvSpPr>
          <p:cNvPr id="16" name="Text 13"/>
          <p:cNvSpPr txBox="1"/>
          <p:nvPr/>
        </p:nvSpPr>
        <p:spPr>
          <a:xfrm>
            <a:off x="5212080" y="3675888"/>
            <a:ext cx="73152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ALLOW</a:t>
            </a:r>
            <a:endParaRPr lang="en-US" sz="1000" dirty="0"/>
          </a:p>
        </p:txBody>
      </p:sp>
      <p:sp>
        <p:nvSpPr>
          <p:cNvPr id="17" name="Shape 14"/>
          <p:cNvSpPr/>
          <p:nvPr/>
        </p:nvSpPr>
        <p:spPr>
          <a:xfrm>
            <a:off x="6007608" y="3675888"/>
            <a:ext cx="594360" cy="256032"/>
          </a:xfrm>
          <a:prstGeom prst="roundRect">
            <a:avLst>
              <a:gd name="adj" fmla="val 50000"/>
            </a:avLst>
          </a:prstGeom>
          <a:solidFill>
            <a:srgbClr val="F59E0B"/>
          </a:solidFill>
          <a:ln w="12700">
            <a:solidFill>
              <a:srgbClr val="F59E0B"/>
            </a:solidFill>
            <a:prstDash val="solid"/>
          </a:ln>
        </p:spPr>
      </p:sp>
      <p:sp>
        <p:nvSpPr>
          <p:cNvPr id="18" name="Text 15"/>
          <p:cNvSpPr txBox="1"/>
          <p:nvPr/>
        </p:nvSpPr>
        <p:spPr>
          <a:xfrm>
            <a:off x="6007608" y="3675888"/>
            <a:ext cx="59436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ASK</a:t>
            </a:r>
            <a:endParaRPr lang="en-US" sz="1000" dirty="0"/>
          </a:p>
        </p:txBody>
      </p:sp>
      <p:sp>
        <p:nvSpPr>
          <p:cNvPr id="19" name="Shape 16"/>
          <p:cNvSpPr/>
          <p:nvPr/>
        </p:nvSpPr>
        <p:spPr>
          <a:xfrm>
            <a:off x="6665976" y="3675888"/>
            <a:ext cx="777240" cy="256032"/>
          </a:xfrm>
          <a:prstGeom prst="roundRect">
            <a:avLst>
              <a:gd name="adj" fmla="val 50000"/>
            </a:avLst>
          </a:prstGeom>
          <a:solidFill>
            <a:srgbClr val="EF4444"/>
          </a:solidFill>
          <a:ln w="12700">
            <a:solidFill>
              <a:srgbClr val="EF4444"/>
            </a:solidFill>
            <a:prstDash val="solid"/>
          </a:ln>
        </p:spPr>
      </p:sp>
      <p:sp>
        <p:nvSpPr>
          <p:cNvPr id="20" name="Text 17"/>
          <p:cNvSpPr txBox="1"/>
          <p:nvPr/>
        </p:nvSpPr>
        <p:spPr>
          <a:xfrm>
            <a:off x="6665976" y="3675888"/>
            <a:ext cx="77724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BLOCK</a:t>
            </a:r>
            <a:endParaRPr lang="en-US" sz="1000" dirty="0"/>
          </a:p>
        </p:txBody>
      </p:sp>
      <p:sp>
        <p:nvSpPr>
          <p:cNvPr id="21" name="Text 18"/>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github.com/bilal-feroz/PluginFence   ·   IntelliJ Platform 2026.2   ·   JVM agent + Kotlin plugin   ·   MIT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91440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Your browser asks. Your phone asks.</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Your IDE plugins ask for nothing.</a:t>
            </a:r>
            <a:endParaRPr lang="en-US" sz="2800" dirty="0"/>
          </a:p>
        </p:txBody>
      </p:sp>
      <p:sp>
        <p:nvSpPr>
          <p:cNvPr id="3" name="Shape 1"/>
          <p:cNvSpPr/>
          <p:nvPr/>
        </p:nvSpPr>
        <p:spPr>
          <a:xfrm>
            <a:off x="457200" y="1371600"/>
            <a:ext cx="384048" cy="384048"/>
          </a:xfrm>
          <a:prstGeom prst="ellipse">
            <a:avLst/>
          </a:prstGeom>
          <a:solidFill>
            <a:srgbClr val="123B2A"/>
          </a:solidFill>
          <a:ln w="12700">
            <a:solidFill>
              <a:srgbClr val="123B2A"/>
            </a:solidFill>
            <a:prstDash val="solid"/>
          </a:ln>
        </p:spPr>
      </p:sp>
      <p:pic>
        <p:nvPicPr>
          <p:cNvPr id="4" name="Image 0" descr="preencoded.png">    </p:cNvPr>
          <p:cNvPicPr>
            <a:picLocks noChangeAspect="1"/>
          </p:cNvPicPr>
          <p:nvPr/>
        </p:nvPicPr>
        <p:blipFill>
          <a:blip r:embed="rId1"/>
          <a:stretch>
            <a:fillRect/>
          </a:stretch>
        </p:blipFill>
        <p:spPr>
          <a:xfrm>
            <a:off x="553212" y="1467612"/>
            <a:ext cx="192024" cy="192024"/>
          </a:xfrm>
          <a:prstGeom prst="rect">
            <a:avLst/>
          </a:prstGeom>
        </p:spPr>
      </p:pic>
      <p:sp>
        <p:nvSpPr>
          <p:cNvPr id="5" name="Text 2"/>
          <p:cNvSpPr txBox="1"/>
          <p:nvPr/>
        </p:nvSpPr>
        <p:spPr>
          <a:xfrm>
            <a:off x="960120" y="1371600"/>
            <a:ext cx="397764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Browser</a:t>
            </a:r>
            <a:pPr indent="0" marL="0">
              <a:buNone/>
            </a:pPr>
            <a:r>
              <a:rPr lang="en-US" sz="1200" dirty="0">
                <a:solidFill>
                  <a:srgbClr val="F1F5F9"/>
                </a:solidFill>
                <a:latin typeface="Calibri" pitchFamily="34" charset="0"/>
                <a:ea typeface="Calibri" pitchFamily="34" charset="-122"/>
                <a:cs typeface="Calibri" pitchFamily="34" charset="-120"/>
              </a:rPr>
              <a:t> — asks before a website uses your camera.</a:t>
            </a:r>
            <a:endParaRPr lang="en-US" sz="1200" dirty="0"/>
          </a:p>
        </p:txBody>
      </p:sp>
      <p:sp>
        <p:nvSpPr>
          <p:cNvPr id="6" name="Shape 3"/>
          <p:cNvSpPr/>
          <p:nvPr/>
        </p:nvSpPr>
        <p:spPr>
          <a:xfrm>
            <a:off x="457200" y="1847088"/>
            <a:ext cx="384048" cy="384048"/>
          </a:xfrm>
          <a:prstGeom prst="ellipse">
            <a:avLst/>
          </a:prstGeom>
          <a:solidFill>
            <a:srgbClr val="123B2A"/>
          </a:solidFill>
          <a:ln w="12700">
            <a:solidFill>
              <a:srgbClr val="123B2A"/>
            </a:solidFill>
            <a:prstDash val="solid"/>
          </a:ln>
        </p:spPr>
      </p:sp>
      <p:pic>
        <p:nvPicPr>
          <p:cNvPr id="7" name="Image 1" descr="preencoded.png">    </p:cNvPr>
          <p:cNvPicPr>
            <a:picLocks noChangeAspect="1"/>
          </p:cNvPicPr>
          <p:nvPr/>
        </p:nvPicPr>
        <p:blipFill>
          <a:blip r:embed="rId2"/>
          <a:stretch>
            <a:fillRect/>
          </a:stretch>
        </p:blipFill>
        <p:spPr>
          <a:xfrm>
            <a:off x="553212" y="1943100"/>
            <a:ext cx="192024" cy="192024"/>
          </a:xfrm>
          <a:prstGeom prst="rect">
            <a:avLst/>
          </a:prstGeom>
        </p:spPr>
      </p:pic>
      <p:sp>
        <p:nvSpPr>
          <p:cNvPr id="8" name="Text 4"/>
          <p:cNvSpPr txBox="1"/>
          <p:nvPr/>
        </p:nvSpPr>
        <p:spPr>
          <a:xfrm>
            <a:off x="960120" y="1847088"/>
            <a:ext cx="3977640" cy="384048"/>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Phone</a:t>
            </a:r>
            <a:pPr indent="0" marL="0">
              <a:buNone/>
            </a:pPr>
            <a:r>
              <a:rPr lang="en-US" sz="1200" dirty="0">
                <a:solidFill>
                  <a:srgbClr val="F1F5F9"/>
                </a:solidFill>
                <a:latin typeface="Calibri" pitchFamily="34" charset="0"/>
                <a:ea typeface="Calibri" pitchFamily="34" charset="-122"/>
                <a:cs typeface="Calibri" pitchFamily="34" charset="-120"/>
              </a:rPr>
              <a:t> — asks before an app reads your location.</a:t>
            </a:r>
            <a:endParaRPr lang="en-US" sz="1200" dirty="0"/>
          </a:p>
        </p:txBody>
      </p:sp>
      <p:sp>
        <p:nvSpPr>
          <p:cNvPr id="9" name="Shape 5"/>
          <p:cNvSpPr/>
          <p:nvPr/>
        </p:nvSpPr>
        <p:spPr>
          <a:xfrm>
            <a:off x="457200" y="2322576"/>
            <a:ext cx="384048" cy="384048"/>
          </a:xfrm>
          <a:prstGeom prst="ellipse">
            <a:avLst/>
          </a:prstGeom>
          <a:solidFill>
            <a:srgbClr val="3F1520"/>
          </a:solidFill>
          <a:ln w="12700">
            <a:solidFill>
              <a:srgbClr val="3F1520"/>
            </a:solidFill>
            <a:prstDash val="solid"/>
          </a:ln>
        </p:spPr>
      </p:sp>
      <p:pic>
        <p:nvPicPr>
          <p:cNvPr id="10" name="Image 2" descr="preencoded.png">    </p:cNvPr>
          <p:cNvPicPr>
            <a:picLocks noChangeAspect="1"/>
          </p:cNvPicPr>
          <p:nvPr/>
        </p:nvPicPr>
        <p:blipFill>
          <a:blip r:embed="rId3"/>
          <a:stretch>
            <a:fillRect/>
          </a:stretch>
        </p:blipFill>
        <p:spPr>
          <a:xfrm>
            <a:off x="553212" y="2418588"/>
            <a:ext cx="192024" cy="192024"/>
          </a:xfrm>
          <a:prstGeom prst="rect">
            <a:avLst/>
          </a:prstGeom>
        </p:spPr>
      </p:pic>
      <p:sp>
        <p:nvSpPr>
          <p:cNvPr id="11" name="Text 6"/>
          <p:cNvSpPr txBox="1"/>
          <p:nvPr/>
        </p:nvSpPr>
        <p:spPr>
          <a:xfrm>
            <a:off x="960120" y="2322576"/>
            <a:ext cx="3977640" cy="731520"/>
          </a:xfrm>
          <a:prstGeom prst="rect">
            <a:avLst/>
          </a:prstGeom>
          <a:noFill/>
          <a:ln/>
        </p:spPr>
        <p:txBody>
          <a:bodyPr wrap="square" lIns="0" tIns="0" rIns="0" bIns="0" rtlCol="0" anchor="t"/>
          <a:lstStyle/>
          <a:p>
            <a:pPr indent="0" marL="0">
              <a:buNone/>
            </a:pPr>
            <a:r>
              <a:rPr lang="en-US" sz="1200" b="1" dirty="0">
                <a:solidFill>
                  <a:srgbClr val="F1F5F9"/>
                </a:solidFill>
                <a:latin typeface="Calibri" pitchFamily="34" charset="0"/>
                <a:ea typeface="Calibri" pitchFamily="34" charset="-122"/>
                <a:cs typeface="Calibri" pitchFamily="34" charset="-120"/>
              </a:rPr>
              <a:t>IntelliJ plugin</a:t>
            </a:r>
            <a:pPr indent="0" marL="0">
              <a:buNone/>
            </a:pPr>
            <a:r>
              <a:rPr lang="en-US" sz="1200" dirty="0">
                <a:solidFill>
                  <a:srgbClr val="F1F5F9"/>
                </a:solidFill>
                <a:latin typeface="Calibri" pitchFamily="34" charset="0"/>
                <a:ea typeface="Calibri" pitchFamily="34" charset="-122"/>
                <a:cs typeface="Calibri" pitchFamily="34" charset="-120"/>
              </a:rPr>
              <a:t> — asks for nothing. It runs with the same access rights as the IDE, on the machine that holds your source code, SSH keys, cloud credentials, .env files and production access.</a:t>
            </a:r>
            <a:endParaRPr lang="en-US" sz="1200" dirty="0"/>
          </a:p>
        </p:txBody>
      </p:sp>
      <p:sp>
        <p:nvSpPr>
          <p:cNvPr id="12" name="Shape 7"/>
          <p:cNvSpPr/>
          <p:nvPr/>
        </p:nvSpPr>
        <p:spPr>
          <a:xfrm>
            <a:off x="457200" y="3200400"/>
            <a:ext cx="4480560" cy="822960"/>
          </a:xfrm>
          <a:prstGeom prst="roundRect">
            <a:avLst>
              <a:gd name="adj" fmla="val 8889"/>
            </a:avLst>
          </a:prstGeom>
          <a:solidFill>
            <a:srgbClr val="151E30"/>
          </a:solidFill>
          <a:ln w="9525">
            <a:solidFill>
              <a:srgbClr val="223047"/>
            </a:solidFill>
            <a:prstDash val="solid"/>
          </a:ln>
        </p:spPr>
      </p:sp>
      <p:sp>
        <p:nvSpPr>
          <p:cNvPr id="13" name="Text 8"/>
          <p:cNvSpPr txBox="1"/>
          <p:nvPr/>
        </p:nvSpPr>
        <p:spPr>
          <a:xfrm>
            <a:off x="594360" y="3273552"/>
            <a:ext cx="4206240" cy="685800"/>
          </a:xfrm>
          <a:prstGeom prst="rect">
            <a:avLst/>
          </a:prstGeom>
          <a:noFill/>
          <a:ln/>
        </p:spPr>
        <p:txBody>
          <a:bodyPr wrap="square" lIns="0" tIns="0" rIns="0" bIns="0" rtlCol="0" anchor="ctr"/>
          <a:lstStyle/>
          <a:p>
            <a:pPr indent="0" marL="0">
              <a:buNone/>
            </a:pPr>
            <a:r>
              <a:rPr lang="en-US" sz="1150" i="1" dirty="0">
                <a:solidFill>
                  <a:srgbClr val="F1F5F9"/>
                </a:solidFill>
                <a:latin typeface="Calibri" pitchFamily="34" charset="0"/>
                <a:ea typeface="Calibri" pitchFamily="34" charset="-122"/>
                <a:cs typeface="Calibri" pitchFamily="34" charset="-120"/>
              </a:rPr>
              <a:t>“The IDE does not restrict plugins using fine-grained permissions, nor does it isolate (sandbox) them.”</a:t>
            </a:r>
            <a:endParaRPr lang="en-US" sz="1150" dirty="0"/>
          </a:p>
          <a:p>
            <a:pPr indent="0" marL="0">
              <a:buNone/>
            </a:pPr>
            <a:r>
              <a:rPr lang="en-US" sz="950" dirty="0">
                <a:solidFill>
                  <a:srgbClr val="64748B"/>
                </a:solidFill>
                <a:latin typeface="Calibri" pitchFamily="34" charset="0"/>
                <a:ea typeface="Calibri" pitchFamily="34" charset="-122"/>
                <a:cs typeface="Calibri" pitchFamily="34" charset="-120"/>
              </a:rPr>
              <a:t>— JetBrains, Understanding plugin security</a:t>
            </a:r>
            <a:endParaRPr lang="en-US" sz="1150" dirty="0"/>
          </a:p>
        </p:txBody>
      </p:sp>
      <p:sp>
        <p:nvSpPr>
          <p:cNvPr id="14" name="Shape 9"/>
          <p:cNvSpPr/>
          <p:nvPr/>
        </p:nvSpPr>
        <p:spPr>
          <a:xfrm>
            <a:off x="5212080" y="1371600"/>
            <a:ext cx="3474720" cy="2651760"/>
          </a:xfrm>
          <a:prstGeom prst="roundRect">
            <a:avLst>
              <a:gd name="adj" fmla="val 2759"/>
            </a:avLst>
          </a:prstGeom>
          <a:solidFill>
            <a:srgbClr val="151E30"/>
          </a:solidFill>
          <a:ln w="9525">
            <a:solidFill>
              <a:srgbClr val="223047"/>
            </a:solidFill>
            <a:prstDash val="solid"/>
          </a:ln>
        </p:spPr>
      </p:sp>
      <p:sp>
        <p:nvSpPr>
          <p:cNvPr id="15" name="Text 10"/>
          <p:cNvSpPr txBox="1"/>
          <p:nvPr/>
        </p:nvSpPr>
        <p:spPr>
          <a:xfrm>
            <a:off x="5349240" y="1371600"/>
            <a:ext cx="1325880" cy="914400"/>
          </a:xfrm>
          <a:prstGeom prst="rect">
            <a:avLst/>
          </a:prstGeom>
          <a:noFill/>
          <a:ln/>
        </p:spPr>
        <p:txBody>
          <a:bodyPr wrap="square" lIns="0" tIns="0" rIns="0" bIns="0" rtlCol="0" anchor="ctr"/>
          <a:lstStyle/>
          <a:p>
            <a:pPr indent="0" marL="0">
              <a:buNone/>
            </a:pPr>
            <a:r>
              <a:rPr lang="en-US" sz="6000" b="1" dirty="0">
                <a:solidFill>
                  <a:srgbClr val="EF4444"/>
                </a:solidFill>
                <a:latin typeface="Calibri" pitchFamily="34" charset="0"/>
                <a:ea typeface="Calibri" pitchFamily="34" charset="-122"/>
                <a:cs typeface="Calibri" pitchFamily="34" charset="-120"/>
              </a:rPr>
              <a:t>15</a:t>
            </a:r>
            <a:endParaRPr lang="en-US" sz="6000" dirty="0"/>
          </a:p>
        </p:txBody>
      </p:sp>
      <p:sp>
        <p:nvSpPr>
          <p:cNvPr id="16" name="Text 11"/>
          <p:cNvSpPr txBox="1"/>
          <p:nvPr/>
        </p:nvSpPr>
        <p:spPr>
          <a:xfrm>
            <a:off x="6675120" y="1481328"/>
            <a:ext cx="1874520" cy="7315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malicious plugins removed from the JetBrains Marketplace, June 2026</a:t>
            </a:r>
            <a:endParaRPr lang="en-US" sz="1150" dirty="0"/>
          </a:p>
        </p:txBody>
      </p:sp>
      <p:sp>
        <p:nvSpPr>
          <p:cNvPr id="17" name="Text 12"/>
          <p:cNvSpPr txBox="1"/>
          <p:nvPr/>
        </p:nvSpPr>
        <p:spPr>
          <a:xfrm>
            <a:off x="5349240" y="2377440"/>
            <a:ext cx="3200400" cy="777240"/>
          </a:xfrm>
          <a:prstGeom prst="rect">
            <a:avLst/>
          </a:prstGeom>
          <a:noFill/>
          <a:ln/>
        </p:spPr>
        <p:txBody>
          <a:bodyPr wrap="square" lIns="0" tIns="0" rIns="0" bIns="0" rtlCol="0" anchor="t"/>
          <a:lstStyle/>
          <a:p>
            <a:pPr indent="0" marL="0">
              <a:buNone/>
            </a:pPr>
            <a:r>
              <a:rPr lang="en-US" sz="1150" dirty="0">
                <a:solidFill>
                  <a:srgbClr val="F1F5F9"/>
                </a:solidFill>
                <a:latin typeface="Calibri" pitchFamily="34" charset="0"/>
                <a:ea typeface="Calibri" pitchFamily="34" charset="-122"/>
                <a:cs typeface="Calibri" pitchFamily="34" charset="-120"/>
              </a:rPr>
              <a:t>They posed as AI utilities and silently sent developers’ OpenAI, DeepSeek and SiliconFlow API keys to a command-and-control server over plaintext HTTP.</a:t>
            </a:r>
            <a:endParaRPr lang="en-US" sz="1150" dirty="0"/>
          </a:p>
        </p:txBody>
      </p:sp>
      <p:sp>
        <p:nvSpPr>
          <p:cNvPr id="18" name="Text 13"/>
          <p:cNvSpPr txBox="1"/>
          <p:nvPr/>
        </p:nvSpPr>
        <p:spPr>
          <a:xfrm>
            <a:off x="5349240" y="3200400"/>
            <a:ext cx="3200400" cy="731520"/>
          </a:xfrm>
          <a:prstGeom prst="rect">
            <a:avLst/>
          </a:prstGeom>
          <a:noFill/>
          <a:ln/>
        </p:spPr>
        <p:txBody>
          <a:bodyPr wrap="square" lIns="0" tIns="0" rIns="0" bIns="0" rtlCol="0" anchor="t"/>
          <a:lstStyle/>
          <a:p>
            <a:pPr indent="0" marL="0">
              <a:buNone/>
            </a:pPr>
            <a:r>
              <a:rPr lang="en-US" sz="1050" b="1" dirty="0">
                <a:solidFill>
                  <a:srgbClr val="94A3B8"/>
                </a:solidFill>
                <a:latin typeface="Calibri" pitchFamily="34" charset="0"/>
                <a:ea typeface="Calibri" pitchFamily="34" charset="-122"/>
                <a:cs typeface="Calibri" pitchFamily="34" charset="-120"/>
              </a:rPr>
              <a:t>JetBrains on its own Plugin Verifier: </a:t>
            </a:r>
            <a:pPr indent="0" marL="0">
              <a:buNone/>
            </a:pPr>
            <a:r>
              <a:rPr lang="en-US" sz="1050" i="1" dirty="0">
                <a:solidFill>
                  <a:srgbClr val="94A3B8"/>
                </a:solidFill>
                <a:latin typeface="Calibri" pitchFamily="34" charset="0"/>
                <a:ea typeface="Calibri" pitchFamily="34" charset="-122"/>
                <a:cs typeface="Calibri" pitchFamily="34" charset="-120"/>
              </a:rPr>
              <a:t>“architected as a compatibility and API-usage checker rather than a dedicated data-flow or anti-malware scanner.”</a:t>
            </a:r>
            <a:endParaRPr lang="en-US" sz="1050" dirty="0"/>
          </a:p>
        </p:txBody>
      </p:sp>
      <p:sp>
        <p:nvSpPr>
          <p:cNvPr id="19" name="Text 14"/>
          <p:cNvSpPr txBox="1"/>
          <p:nvPr/>
        </p:nvSpPr>
        <p:spPr>
          <a:xfrm>
            <a:off x="457200" y="4133088"/>
            <a:ext cx="5486400" cy="182880"/>
          </a:xfrm>
          <a:prstGeom prst="rect">
            <a:avLst/>
          </a:prstGeom>
          <a:noFill/>
          <a:ln/>
        </p:spPr>
        <p:txBody>
          <a:bodyPr wrap="square" lIns="0" tIns="0" rIns="0" bIns="0" rtlCol="0" anchor="t"/>
          <a:lstStyle/>
          <a:p>
            <a:pPr indent="0" marL="0">
              <a:buNone/>
            </a:pPr>
            <a:r>
              <a:rPr lang="en-US" sz="900" b="1" spc="100" kern="0" dirty="0">
                <a:solidFill>
                  <a:srgbClr val="64748B"/>
                </a:solidFill>
                <a:latin typeface="Calibri" pitchFamily="34" charset="0"/>
                <a:ea typeface="Calibri" pitchFamily="34" charset="-122"/>
                <a:cs typeface="Calibri" pitchFamily="34" charset="-120"/>
              </a:rPr>
              <a:t>QUESTIONS A DEVELOPER CANNOT ANSWER TODAY</a:t>
            </a:r>
            <a:endParaRPr lang="en-US" sz="900" dirty="0"/>
          </a:p>
        </p:txBody>
      </p:sp>
      <p:sp>
        <p:nvSpPr>
          <p:cNvPr id="20" name="Shape 15"/>
          <p:cNvSpPr/>
          <p:nvPr/>
        </p:nvSpPr>
        <p:spPr>
          <a:xfrm>
            <a:off x="457200" y="4343400"/>
            <a:ext cx="2651760" cy="502920"/>
          </a:xfrm>
          <a:prstGeom prst="roundRect">
            <a:avLst>
              <a:gd name="adj" fmla="val 14545"/>
            </a:avLst>
          </a:prstGeom>
          <a:solidFill>
            <a:srgbClr val="151E30"/>
          </a:solidFill>
          <a:ln w="9525">
            <a:solidFill>
              <a:srgbClr val="223047"/>
            </a:solidFill>
            <a:prstDash val="solid"/>
          </a:ln>
        </p:spPr>
      </p:sp>
      <p:sp>
        <p:nvSpPr>
          <p:cNvPr id="21" name="Text 16"/>
          <p:cNvSpPr txBox="1"/>
          <p:nvPr/>
        </p:nvSpPr>
        <p:spPr>
          <a:xfrm>
            <a:off x="566928" y="4343400"/>
            <a:ext cx="2432304" cy="502920"/>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Why does a syntax-highlighting plugin need my SSH keys?</a:t>
            </a:r>
            <a:endParaRPr lang="en-US" sz="1050" dirty="0"/>
          </a:p>
        </p:txBody>
      </p:sp>
      <p:sp>
        <p:nvSpPr>
          <p:cNvPr id="22" name="Shape 17"/>
          <p:cNvSpPr/>
          <p:nvPr/>
        </p:nvSpPr>
        <p:spPr>
          <a:xfrm>
            <a:off x="3246120" y="4343400"/>
            <a:ext cx="2651760" cy="502920"/>
          </a:xfrm>
          <a:prstGeom prst="roundRect">
            <a:avLst>
              <a:gd name="adj" fmla="val 14545"/>
            </a:avLst>
          </a:prstGeom>
          <a:solidFill>
            <a:srgbClr val="151E30"/>
          </a:solidFill>
          <a:ln w="9525">
            <a:solidFill>
              <a:srgbClr val="223047"/>
            </a:solidFill>
            <a:prstDash val="solid"/>
          </a:ln>
        </p:spPr>
      </p:sp>
      <p:sp>
        <p:nvSpPr>
          <p:cNvPr id="23" name="Text 18"/>
          <p:cNvSpPr txBox="1"/>
          <p:nvPr/>
        </p:nvSpPr>
        <p:spPr>
          <a:xfrm>
            <a:off x="3355848" y="4343400"/>
            <a:ext cx="2432304" cy="502920"/>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Which plugin just connected to that IP address?</a:t>
            </a:r>
            <a:endParaRPr lang="en-US" sz="1050" dirty="0"/>
          </a:p>
        </p:txBody>
      </p:sp>
      <p:sp>
        <p:nvSpPr>
          <p:cNvPr id="24" name="Shape 19"/>
          <p:cNvSpPr/>
          <p:nvPr/>
        </p:nvSpPr>
        <p:spPr>
          <a:xfrm>
            <a:off x="6035040" y="4343400"/>
            <a:ext cx="2651760" cy="502920"/>
          </a:xfrm>
          <a:prstGeom prst="roundRect">
            <a:avLst>
              <a:gd name="adj" fmla="val 14545"/>
            </a:avLst>
          </a:prstGeom>
          <a:solidFill>
            <a:srgbClr val="151E30"/>
          </a:solidFill>
          <a:ln w="9525">
            <a:solidFill>
              <a:srgbClr val="223047"/>
            </a:solidFill>
            <a:prstDash val="solid"/>
          </a:ln>
        </p:spPr>
      </p:sp>
      <p:sp>
        <p:nvSpPr>
          <p:cNvPr id="25" name="Text 20"/>
          <p:cNvSpPr txBox="1"/>
          <p:nvPr/>
        </p:nvSpPr>
        <p:spPr>
          <a:xfrm>
            <a:off x="6144768" y="4343400"/>
            <a:ext cx="2432304" cy="502920"/>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What can version 2.4 do that 2.3 never did?</a:t>
            </a:r>
            <a:endParaRPr lang="en-US" sz="1050" dirty="0"/>
          </a:p>
        </p:txBody>
      </p:sp>
      <p:sp>
        <p:nvSpPr>
          <p:cNvPr id="26" name="Text 21"/>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Prediction vs. enforcement</a:t>
            </a:r>
            <a:endParaRPr lang="en-US" sz="2800" dirty="0"/>
          </a:p>
        </p:txBody>
      </p:sp>
      <p:sp>
        <p:nvSpPr>
          <p:cNvPr id="3" name="Text 1"/>
          <p:cNvSpPr txBox="1"/>
          <p:nvPr/>
        </p:nvSpPr>
        <p:spPr>
          <a:xfrm>
            <a:off x="457200" y="841248"/>
            <a:ext cx="822960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Static scanning asks “does this plugin look dangerous?”  PluginFence asks “what did it actually attempt to do?” — and answers while it happens.</a:t>
            </a:r>
            <a:endParaRPr lang="en-US" sz="1300" dirty="0"/>
          </a:p>
        </p:txBody>
      </p:sp>
      <p:sp>
        <p:nvSpPr>
          <p:cNvPr id="4" name="Shape 2"/>
          <p:cNvSpPr/>
          <p:nvPr/>
        </p:nvSpPr>
        <p:spPr>
          <a:xfrm>
            <a:off x="457200" y="1371600"/>
            <a:ext cx="3977640" cy="2011680"/>
          </a:xfrm>
          <a:prstGeom prst="roundRect">
            <a:avLst>
              <a:gd name="adj" fmla="val 3636"/>
            </a:avLst>
          </a:prstGeom>
          <a:solidFill>
            <a:srgbClr val="151E30"/>
          </a:solidFill>
          <a:ln w="9525">
            <a:solidFill>
              <a:srgbClr val="223047"/>
            </a:solidFill>
            <a:prstDash val="solid"/>
          </a:ln>
        </p:spPr>
      </p:sp>
      <p:sp>
        <p:nvSpPr>
          <p:cNvPr id="5" name="Shape 3"/>
          <p:cNvSpPr/>
          <p:nvPr/>
        </p:nvSpPr>
        <p:spPr>
          <a:xfrm>
            <a:off x="640080" y="1508760"/>
            <a:ext cx="365760" cy="365760"/>
          </a:xfrm>
          <a:prstGeom prst="ellipse">
            <a:avLst/>
          </a:prstGeom>
          <a:solidFill>
            <a:srgbClr val="243044"/>
          </a:solidFill>
          <a:ln w="12700">
            <a:solidFill>
              <a:srgbClr val="243044"/>
            </a:solidFill>
            <a:prstDash val="solid"/>
          </a:ln>
        </p:spPr>
      </p:sp>
      <p:pic>
        <p:nvPicPr>
          <p:cNvPr id="6" name="Image 0" descr="preencoded.png">    </p:cNvPr>
          <p:cNvPicPr>
            <a:picLocks noChangeAspect="1"/>
          </p:cNvPicPr>
          <p:nvPr/>
        </p:nvPicPr>
        <p:blipFill>
          <a:blip r:embed="rId1"/>
          <a:stretch>
            <a:fillRect/>
          </a:stretch>
        </p:blipFill>
        <p:spPr>
          <a:xfrm>
            <a:off x="731520" y="1600200"/>
            <a:ext cx="182880" cy="182880"/>
          </a:xfrm>
          <a:prstGeom prst="rect">
            <a:avLst/>
          </a:prstGeom>
        </p:spPr>
      </p:pic>
      <p:sp>
        <p:nvSpPr>
          <p:cNvPr id="7" name="Text 4"/>
          <p:cNvSpPr txBox="1"/>
          <p:nvPr/>
        </p:nvSpPr>
        <p:spPr>
          <a:xfrm>
            <a:off x="1097280" y="1508760"/>
            <a:ext cx="3200400" cy="365760"/>
          </a:xfrm>
          <a:prstGeom prst="rect">
            <a:avLst/>
          </a:prstGeom>
          <a:noFill/>
          <a:ln/>
        </p:spPr>
        <p:txBody>
          <a:bodyPr wrap="square" lIns="0" tIns="0" rIns="0" bIns="0" rtlCol="0" anchor="ctr"/>
          <a:lstStyle/>
          <a:p>
            <a:pPr indent="0" marL="0">
              <a:buNone/>
            </a:pPr>
            <a:r>
              <a:rPr lang="en-US" sz="1100" b="1" spc="100" kern="0" dirty="0">
                <a:solidFill>
                  <a:srgbClr val="94A3B8"/>
                </a:solidFill>
                <a:latin typeface="Calibri" pitchFamily="34" charset="0"/>
                <a:ea typeface="Calibri" pitchFamily="34" charset="-122"/>
                <a:cs typeface="Calibri" pitchFamily="34" charset="-120"/>
              </a:rPr>
              <a:t>PREDICTION  /  STATIC SCAN</a:t>
            </a:r>
            <a:endParaRPr lang="en-US" sz="1100" dirty="0"/>
          </a:p>
        </p:txBody>
      </p:sp>
      <p:sp>
        <p:nvSpPr>
          <p:cNvPr id="8" name="Shape 5"/>
          <p:cNvSpPr/>
          <p:nvPr/>
        </p:nvSpPr>
        <p:spPr>
          <a:xfrm>
            <a:off x="640080" y="2011680"/>
            <a:ext cx="3611880" cy="502920"/>
          </a:xfrm>
          <a:prstGeom prst="roundRect">
            <a:avLst>
              <a:gd name="adj" fmla="val 10909"/>
            </a:avLst>
          </a:prstGeom>
          <a:solidFill>
            <a:srgbClr val="0A1020"/>
          </a:solidFill>
          <a:ln w="9525">
            <a:solidFill>
              <a:srgbClr val="223047"/>
            </a:solidFill>
            <a:prstDash val="solid"/>
          </a:ln>
        </p:spPr>
      </p:sp>
      <p:sp>
        <p:nvSpPr>
          <p:cNvPr id="9" name="Text 6"/>
          <p:cNvSpPr txBox="1"/>
          <p:nvPr/>
        </p:nvSpPr>
        <p:spPr>
          <a:xfrm>
            <a:off x="777240" y="2103120"/>
            <a:ext cx="3337560" cy="320040"/>
          </a:xfrm>
          <a:prstGeom prst="rect">
            <a:avLst/>
          </a:prstGeom>
          <a:noFill/>
          <a:ln/>
        </p:spPr>
        <p:txBody>
          <a:bodyPr wrap="square" lIns="0" tIns="0" rIns="0" bIns="0" rtlCol="0" anchor="ctr"/>
          <a:lstStyle/>
          <a:p>
            <a:pPr indent="0" marL="0">
              <a:buNone/>
            </a:pPr>
            <a:r>
              <a:rPr lang="en-US" sz="1100" dirty="0">
                <a:solidFill>
                  <a:srgbClr val="94A3B8"/>
                </a:solidFill>
                <a:latin typeface="Courier New" pitchFamily="34" charset="0"/>
                <a:ea typeface="Courier New" pitchFamily="34" charset="-122"/>
                <a:cs typeface="Courier New" pitchFamily="34" charset="-120"/>
              </a:rPr>
              <a:t>“This plugin may access credentials.”</a:t>
            </a:r>
            <a:endParaRPr lang="en-US" sz="1100" dirty="0"/>
          </a:p>
        </p:txBody>
      </p:sp>
      <p:sp>
        <p:nvSpPr>
          <p:cNvPr id="10" name="Text 7"/>
          <p:cNvSpPr txBox="1"/>
          <p:nvPr/>
        </p:nvSpPr>
        <p:spPr>
          <a:xfrm>
            <a:off x="640080" y="2633472"/>
            <a:ext cx="361188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prediction about code. The plugin still runs with full access, and nothing stops the operation.</a:t>
            </a:r>
            <a:endParaRPr lang="en-US" sz="1150" dirty="0"/>
          </a:p>
        </p:txBody>
      </p:sp>
      <p:sp>
        <p:nvSpPr>
          <p:cNvPr id="11" name="Shape 8"/>
          <p:cNvSpPr/>
          <p:nvPr/>
        </p:nvSpPr>
        <p:spPr>
          <a:xfrm>
            <a:off x="4709160" y="1371600"/>
            <a:ext cx="3977640" cy="2011680"/>
          </a:xfrm>
          <a:prstGeom prst="roundRect">
            <a:avLst>
              <a:gd name="adj" fmla="val 3636"/>
            </a:avLst>
          </a:prstGeom>
          <a:solidFill>
            <a:srgbClr val="151E30"/>
          </a:solidFill>
          <a:ln w="9525">
            <a:solidFill>
              <a:srgbClr val="223047"/>
            </a:solidFill>
            <a:prstDash val="solid"/>
          </a:ln>
        </p:spPr>
      </p:sp>
      <p:sp>
        <p:nvSpPr>
          <p:cNvPr id="12" name="Shape 9"/>
          <p:cNvSpPr/>
          <p:nvPr/>
        </p:nvSpPr>
        <p:spPr>
          <a:xfrm>
            <a:off x="4892040" y="1508760"/>
            <a:ext cx="365760" cy="365760"/>
          </a:xfrm>
          <a:prstGeom prst="ellipse">
            <a:avLst/>
          </a:prstGeom>
          <a:solidFill>
            <a:srgbClr val="123A52"/>
          </a:solidFill>
          <a:ln w="12700">
            <a:solidFill>
              <a:srgbClr val="123A52"/>
            </a:solidFill>
            <a:prstDash val="solid"/>
          </a:ln>
        </p:spPr>
      </p:sp>
      <p:pic>
        <p:nvPicPr>
          <p:cNvPr id="13" name="Image 1" descr="preencoded.png">    </p:cNvPr>
          <p:cNvPicPr>
            <a:picLocks noChangeAspect="1"/>
          </p:cNvPicPr>
          <p:nvPr/>
        </p:nvPicPr>
        <p:blipFill>
          <a:blip r:embed="rId2"/>
          <a:stretch>
            <a:fillRect/>
          </a:stretch>
        </p:blipFill>
        <p:spPr>
          <a:xfrm>
            <a:off x="4983480" y="1600200"/>
            <a:ext cx="182880" cy="182880"/>
          </a:xfrm>
          <a:prstGeom prst="rect">
            <a:avLst/>
          </a:prstGeom>
        </p:spPr>
      </p:pic>
      <p:sp>
        <p:nvSpPr>
          <p:cNvPr id="14" name="Text 10"/>
          <p:cNvSpPr txBox="1"/>
          <p:nvPr/>
        </p:nvSpPr>
        <p:spPr>
          <a:xfrm>
            <a:off x="5349240" y="1508760"/>
            <a:ext cx="3200400" cy="365760"/>
          </a:xfrm>
          <a:prstGeom prst="rect">
            <a:avLst/>
          </a:prstGeom>
          <a:noFill/>
          <a:ln/>
        </p:spPr>
        <p:txBody>
          <a:bodyPr wrap="square" lIns="0" tIns="0" rIns="0" bIns="0" rtlCol="0" anchor="ctr"/>
          <a:lstStyle/>
          <a:p>
            <a:pPr indent="0" marL="0">
              <a:buNone/>
            </a:pPr>
            <a:r>
              <a:rPr lang="en-US" sz="1100" b="1" spc="100" kern="0" dirty="0">
                <a:solidFill>
                  <a:srgbClr val="38BDF8"/>
                </a:solidFill>
                <a:latin typeface="Calibri" pitchFamily="34" charset="0"/>
                <a:ea typeface="Calibri" pitchFamily="34" charset="-122"/>
                <a:cs typeface="Calibri" pitchFamily="34" charset="-120"/>
              </a:rPr>
              <a:t>PLUGINFENCE</a:t>
            </a:r>
            <a:endParaRPr lang="en-US" sz="1100" dirty="0"/>
          </a:p>
        </p:txBody>
      </p:sp>
      <p:sp>
        <p:nvSpPr>
          <p:cNvPr id="15" name="Shape 11"/>
          <p:cNvSpPr/>
          <p:nvPr/>
        </p:nvSpPr>
        <p:spPr>
          <a:xfrm>
            <a:off x="4892040" y="2011680"/>
            <a:ext cx="3611880" cy="868680"/>
          </a:xfrm>
          <a:prstGeom prst="roundRect">
            <a:avLst>
              <a:gd name="adj" fmla="val 6316"/>
            </a:avLst>
          </a:prstGeom>
          <a:solidFill>
            <a:srgbClr val="0A1020"/>
          </a:solidFill>
          <a:ln w="9525">
            <a:solidFill>
              <a:srgbClr val="223047"/>
            </a:solidFill>
            <a:prstDash val="solid"/>
          </a:ln>
        </p:spPr>
      </p:sp>
      <p:sp>
        <p:nvSpPr>
          <p:cNvPr id="16" name="Text 12"/>
          <p:cNvSpPr txBox="1"/>
          <p:nvPr/>
        </p:nvSpPr>
        <p:spPr>
          <a:xfrm>
            <a:off x="5029200" y="2103120"/>
            <a:ext cx="3337560" cy="685800"/>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Plugin com.example.demo-helper 1.1.0</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attempted to read ~/.ssh/id_rsa at 10:41:03</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via java.nio.file.Files.readString.</a:t>
            </a:r>
            <a:endParaRPr lang="en-US" sz="950" dirty="0"/>
          </a:p>
          <a:p>
            <a:pPr indent="0" marL="0">
              <a:buNone/>
            </a:pPr>
            <a:r>
              <a:rPr lang="en-US" sz="950" b="1" dirty="0">
                <a:solidFill>
                  <a:srgbClr val="EF4444"/>
                </a:solidFill>
                <a:latin typeface="Courier New" pitchFamily="34" charset="0"/>
                <a:ea typeface="Courier New" pitchFamily="34" charset="-122"/>
                <a:cs typeface="Courier New" pitchFamily="34" charset="-120"/>
              </a:rPr>
              <a:t>→ The operation was blocked.</a:t>
            </a:r>
            <a:endParaRPr lang="en-US" sz="950" dirty="0"/>
          </a:p>
        </p:txBody>
      </p:sp>
      <p:sp>
        <p:nvSpPr>
          <p:cNvPr id="17" name="Text 13"/>
          <p:cNvSpPr txBox="1"/>
          <p:nvPr/>
        </p:nvSpPr>
        <p:spPr>
          <a:xfrm>
            <a:off x="4892040" y="2944368"/>
            <a:ext cx="3611880" cy="384048"/>
          </a:xfrm>
          <a:prstGeom prst="rect">
            <a:avLst/>
          </a:prstGeom>
          <a:noFill/>
          <a:ln/>
        </p:spPr>
        <p:txBody>
          <a:bodyPr wrap="square" lIns="0" tIns="0" rIns="0" bIns="0" rtlCol="0" anchor="t"/>
          <a:lstStyle/>
          <a:p>
            <a:pPr indent="0" marL="0">
              <a:buNone/>
            </a:pPr>
            <a:r>
              <a:rPr lang="en-US" sz="1150" dirty="0">
                <a:solidFill>
                  <a:srgbClr val="F1F5F9"/>
                </a:solidFill>
                <a:latin typeface="Calibri" pitchFamily="34" charset="0"/>
                <a:ea typeface="Calibri" pitchFamily="34" charset="-122"/>
                <a:cs typeface="Calibri" pitchFamily="34" charset="-120"/>
              </a:rPr>
              <a:t>Observed as it happens. Prevented before it completes. Attributed to the exact plugin, version and API.</a:t>
            </a:r>
            <a:endParaRPr lang="en-US" sz="1150" dirty="0"/>
          </a:p>
        </p:txBody>
      </p:sp>
      <p:sp>
        <p:nvSpPr>
          <p:cNvPr id="18" name="Text 14"/>
          <p:cNvSpPr txBox="1"/>
          <p:nvPr/>
        </p:nvSpPr>
        <p:spPr>
          <a:xfrm>
            <a:off x="457200" y="3547872"/>
            <a:ext cx="8229600" cy="201168"/>
          </a:xfrm>
          <a:prstGeom prst="rect">
            <a:avLst/>
          </a:prstGeom>
          <a:noFill/>
          <a:ln/>
        </p:spPr>
        <p:txBody>
          <a:bodyPr wrap="square" lIns="0" tIns="0" rIns="0" bIns="0" rtlCol="0" anchor="t"/>
          <a:lstStyle/>
          <a:p>
            <a:pPr indent="0" marL="0">
              <a:buNone/>
            </a:pPr>
            <a:r>
              <a:rPr lang="en-US" sz="900" b="1" spc="100" kern="0" dirty="0">
                <a:solidFill>
                  <a:srgbClr val="64748B"/>
                </a:solidFill>
                <a:latin typeface="Calibri" pitchFamily="34" charset="0"/>
                <a:ea typeface="Calibri" pitchFamily="34" charset="-122"/>
                <a:cs typeface="Calibri" pitchFamily="34" charset="-120"/>
              </a:rPr>
              <a:t>PER-PLUGIN POLICY — SIX CAPABILITIES (DEFAULTS SHOWN)</a:t>
            </a:r>
            <a:endParaRPr lang="en-US" sz="900" dirty="0"/>
          </a:p>
        </p:txBody>
      </p:sp>
      <p:sp>
        <p:nvSpPr>
          <p:cNvPr id="19" name="Shape 15"/>
          <p:cNvSpPr/>
          <p:nvPr/>
        </p:nvSpPr>
        <p:spPr>
          <a:xfrm>
            <a:off x="457200" y="3785616"/>
            <a:ext cx="1280160" cy="713232"/>
          </a:xfrm>
          <a:prstGeom prst="roundRect">
            <a:avLst>
              <a:gd name="adj" fmla="val 10256"/>
            </a:avLst>
          </a:prstGeom>
          <a:solidFill>
            <a:srgbClr val="151E30"/>
          </a:solidFill>
          <a:ln w="9525">
            <a:solidFill>
              <a:srgbClr val="223047"/>
            </a:solidFill>
            <a:prstDash val="solid"/>
          </a:ln>
        </p:spPr>
      </p:sp>
      <p:sp>
        <p:nvSpPr>
          <p:cNvPr id="20" name="Text 16"/>
          <p:cNvSpPr txBox="1"/>
          <p:nvPr/>
        </p:nvSpPr>
        <p:spPr>
          <a:xfrm>
            <a:off x="502920"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Project files</a:t>
            </a:r>
            <a:endParaRPr lang="en-US" sz="1000" dirty="0"/>
          </a:p>
        </p:txBody>
      </p:sp>
      <p:sp>
        <p:nvSpPr>
          <p:cNvPr id="21" name="Shape 17"/>
          <p:cNvSpPr/>
          <p:nvPr/>
        </p:nvSpPr>
        <p:spPr>
          <a:xfrm>
            <a:off x="731520" y="4178808"/>
            <a:ext cx="731520" cy="237744"/>
          </a:xfrm>
          <a:prstGeom prst="roundRect">
            <a:avLst>
              <a:gd name="adj" fmla="val 50000"/>
            </a:avLst>
          </a:prstGeom>
          <a:solidFill>
            <a:srgbClr val="22C55E"/>
          </a:solidFill>
          <a:ln w="12700">
            <a:solidFill>
              <a:srgbClr val="22C55E"/>
            </a:solidFill>
            <a:prstDash val="solid"/>
          </a:ln>
        </p:spPr>
      </p:sp>
      <p:sp>
        <p:nvSpPr>
          <p:cNvPr id="22" name="Text 18"/>
          <p:cNvSpPr txBox="1"/>
          <p:nvPr/>
        </p:nvSpPr>
        <p:spPr>
          <a:xfrm>
            <a:off x="731520"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ALLOW</a:t>
            </a:r>
            <a:endParaRPr lang="en-US" sz="900" dirty="0"/>
          </a:p>
        </p:txBody>
      </p:sp>
      <p:sp>
        <p:nvSpPr>
          <p:cNvPr id="23" name="Shape 19"/>
          <p:cNvSpPr/>
          <p:nvPr/>
        </p:nvSpPr>
        <p:spPr>
          <a:xfrm>
            <a:off x="1847088" y="3785616"/>
            <a:ext cx="1280160" cy="713232"/>
          </a:xfrm>
          <a:prstGeom prst="roundRect">
            <a:avLst>
              <a:gd name="adj" fmla="val 10256"/>
            </a:avLst>
          </a:prstGeom>
          <a:solidFill>
            <a:srgbClr val="151E30"/>
          </a:solidFill>
          <a:ln w="9525">
            <a:solidFill>
              <a:srgbClr val="223047"/>
            </a:solidFill>
            <a:prstDash val="solid"/>
          </a:ln>
        </p:spPr>
      </p:sp>
      <p:sp>
        <p:nvSpPr>
          <p:cNvPr id="24" name="Text 20"/>
          <p:cNvSpPr txBox="1"/>
          <p:nvPr/>
        </p:nvSpPr>
        <p:spPr>
          <a:xfrm>
            <a:off x="1892808"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Outside project</a:t>
            </a:r>
            <a:endParaRPr lang="en-US" sz="1000" dirty="0"/>
          </a:p>
        </p:txBody>
      </p:sp>
      <p:sp>
        <p:nvSpPr>
          <p:cNvPr id="25" name="Shape 21"/>
          <p:cNvSpPr/>
          <p:nvPr/>
        </p:nvSpPr>
        <p:spPr>
          <a:xfrm>
            <a:off x="2121408" y="4178808"/>
            <a:ext cx="731520" cy="237744"/>
          </a:xfrm>
          <a:prstGeom prst="roundRect">
            <a:avLst>
              <a:gd name="adj" fmla="val 50000"/>
            </a:avLst>
          </a:prstGeom>
          <a:solidFill>
            <a:srgbClr val="F59E0B"/>
          </a:solidFill>
          <a:ln w="12700">
            <a:solidFill>
              <a:srgbClr val="F59E0B"/>
            </a:solidFill>
            <a:prstDash val="solid"/>
          </a:ln>
        </p:spPr>
      </p:sp>
      <p:sp>
        <p:nvSpPr>
          <p:cNvPr id="26" name="Text 22"/>
          <p:cNvSpPr txBox="1"/>
          <p:nvPr/>
        </p:nvSpPr>
        <p:spPr>
          <a:xfrm>
            <a:off x="2121408"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ASK</a:t>
            </a:r>
            <a:endParaRPr lang="en-US" sz="900" dirty="0"/>
          </a:p>
        </p:txBody>
      </p:sp>
      <p:sp>
        <p:nvSpPr>
          <p:cNvPr id="27" name="Shape 23"/>
          <p:cNvSpPr/>
          <p:nvPr/>
        </p:nvSpPr>
        <p:spPr>
          <a:xfrm>
            <a:off x="3236976" y="3785616"/>
            <a:ext cx="1280160" cy="713232"/>
          </a:xfrm>
          <a:prstGeom prst="roundRect">
            <a:avLst>
              <a:gd name="adj" fmla="val 10256"/>
            </a:avLst>
          </a:prstGeom>
          <a:solidFill>
            <a:srgbClr val="151E30"/>
          </a:solidFill>
          <a:ln w="9525">
            <a:solidFill>
              <a:srgbClr val="223047"/>
            </a:solidFill>
            <a:prstDash val="solid"/>
          </a:ln>
        </p:spPr>
      </p:sp>
      <p:sp>
        <p:nvSpPr>
          <p:cNvPr id="28" name="Text 24"/>
          <p:cNvSpPr txBox="1"/>
          <p:nvPr/>
        </p:nvSpPr>
        <p:spPr>
          <a:xfrm>
            <a:off x="3282696"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Sensitive files</a:t>
            </a:r>
            <a:endParaRPr lang="en-US" sz="1000" dirty="0"/>
          </a:p>
        </p:txBody>
      </p:sp>
      <p:sp>
        <p:nvSpPr>
          <p:cNvPr id="29" name="Shape 25"/>
          <p:cNvSpPr/>
          <p:nvPr/>
        </p:nvSpPr>
        <p:spPr>
          <a:xfrm>
            <a:off x="3511296" y="4178808"/>
            <a:ext cx="731520" cy="237744"/>
          </a:xfrm>
          <a:prstGeom prst="roundRect">
            <a:avLst>
              <a:gd name="adj" fmla="val 50000"/>
            </a:avLst>
          </a:prstGeom>
          <a:solidFill>
            <a:srgbClr val="EF4444"/>
          </a:solidFill>
          <a:ln w="12700">
            <a:solidFill>
              <a:srgbClr val="EF4444"/>
            </a:solidFill>
            <a:prstDash val="solid"/>
          </a:ln>
        </p:spPr>
      </p:sp>
      <p:sp>
        <p:nvSpPr>
          <p:cNvPr id="30" name="Text 26"/>
          <p:cNvSpPr txBox="1"/>
          <p:nvPr/>
        </p:nvSpPr>
        <p:spPr>
          <a:xfrm>
            <a:off x="3511296"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BLOCK</a:t>
            </a:r>
            <a:endParaRPr lang="en-US" sz="900" dirty="0"/>
          </a:p>
        </p:txBody>
      </p:sp>
      <p:sp>
        <p:nvSpPr>
          <p:cNvPr id="31" name="Shape 27"/>
          <p:cNvSpPr/>
          <p:nvPr/>
        </p:nvSpPr>
        <p:spPr>
          <a:xfrm>
            <a:off x="4626864" y="3785616"/>
            <a:ext cx="1280160" cy="713232"/>
          </a:xfrm>
          <a:prstGeom prst="roundRect">
            <a:avLst>
              <a:gd name="adj" fmla="val 10256"/>
            </a:avLst>
          </a:prstGeom>
          <a:solidFill>
            <a:srgbClr val="151E30"/>
          </a:solidFill>
          <a:ln w="9525">
            <a:solidFill>
              <a:srgbClr val="223047"/>
            </a:solidFill>
            <a:prstDash val="solid"/>
          </a:ln>
        </p:spPr>
      </p:sp>
      <p:sp>
        <p:nvSpPr>
          <p:cNvPr id="32" name="Text 28"/>
          <p:cNvSpPr txBox="1"/>
          <p:nvPr/>
        </p:nvSpPr>
        <p:spPr>
          <a:xfrm>
            <a:off x="4672584"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Environment secrets</a:t>
            </a:r>
            <a:endParaRPr lang="en-US" sz="1000" dirty="0"/>
          </a:p>
        </p:txBody>
      </p:sp>
      <p:sp>
        <p:nvSpPr>
          <p:cNvPr id="33" name="Shape 29"/>
          <p:cNvSpPr/>
          <p:nvPr/>
        </p:nvSpPr>
        <p:spPr>
          <a:xfrm>
            <a:off x="4901184" y="4178808"/>
            <a:ext cx="731520" cy="237744"/>
          </a:xfrm>
          <a:prstGeom prst="roundRect">
            <a:avLst>
              <a:gd name="adj" fmla="val 50000"/>
            </a:avLst>
          </a:prstGeom>
          <a:solidFill>
            <a:srgbClr val="EF4444"/>
          </a:solidFill>
          <a:ln w="12700">
            <a:solidFill>
              <a:srgbClr val="EF4444"/>
            </a:solidFill>
            <a:prstDash val="solid"/>
          </a:ln>
        </p:spPr>
      </p:sp>
      <p:sp>
        <p:nvSpPr>
          <p:cNvPr id="34" name="Text 30"/>
          <p:cNvSpPr txBox="1"/>
          <p:nvPr/>
        </p:nvSpPr>
        <p:spPr>
          <a:xfrm>
            <a:off x="4901184"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BLOCK</a:t>
            </a:r>
            <a:endParaRPr lang="en-US" sz="900" dirty="0"/>
          </a:p>
        </p:txBody>
      </p:sp>
      <p:sp>
        <p:nvSpPr>
          <p:cNvPr id="35" name="Shape 31"/>
          <p:cNvSpPr/>
          <p:nvPr/>
        </p:nvSpPr>
        <p:spPr>
          <a:xfrm>
            <a:off x="6016752" y="3785616"/>
            <a:ext cx="1280160" cy="713232"/>
          </a:xfrm>
          <a:prstGeom prst="roundRect">
            <a:avLst>
              <a:gd name="adj" fmla="val 10256"/>
            </a:avLst>
          </a:prstGeom>
          <a:solidFill>
            <a:srgbClr val="151E30"/>
          </a:solidFill>
          <a:ln w="9525">
            <a:solidFill>
              <a:srgbClr val="223047"/>
            </a:solidFill>
            <a:prstDash val="solid"/>
          </a:ln>
        </p:spPr>
      </p:sp>
      <p:sp>
        <p:nvSpPr>
          <p:cNvPr id="36" name="Text 32"/>
          <p:cNvSpPr txBox="1"/>
          <p:nvPr/>
        </p:nvSpPr>
        <p:spPr>
          <a:xfrm>
            <a:off x="6062472"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Network</a:t>
            </a:r>
            <a:endParaRPr lang="en-US" sz="1000" dirty="0"/>
          </a:p>
        </p:txBody>
      </p:sp>
      <p:sp>
        <p:nvSpPr>
          <p:cNvPr id="37" name="Shape 33"/>
          <p:cNvSpPr/>
          <p:nvPr/>
        </p:nvSpPr>
        <p:spPr>
          <a:xfrm>
            <a:off x="6291072" y="4178808"/>
            <a:ext cx="731520" cy="237744"/>
          </a:xfrm>
          <a:prstGeom prst="roundRect">
            <a:avLst>
              <a:gd name="adj" fmla="val 50000"/>
            </a:avLst>
          </a:prstGeom>
          <a:solidFill>
            <a:srgbClr val="F59E0B"/>
          </a:solidFill>
          <a:ln w="12700">
            <a:solidFill>
              <a:srgbClr val="F59E0B"/>
            </a:solidFill>
            <a:prstDash val="solid"/>
          </a:ln>
        </p:spPr>
      </p:sp>
      <p:sp>
        <p:nvSpPr>
          <p:cNvPr id="38" name="Text 34"/>
          <p:cNvSpPr txBox="1"/>
          <p:nvPr/>
        </p:nvSpPr>
        <p:spPr>
          <a:xfrm>
            <a:off x="6291072"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ASK</a:t>
            </a:r>
            <a:endParaRPr lang="en-US" sz="900" dirty="0"/>
          </a:p>
        </p:txBody>
      </p:sp>
      <p:sp>
        <p:nvSpPr>
          <p:cNvPr id="39" name="Shape 35"/>
          <p:cNvSpPr/>
          <p:nvPr/>
        </p:nvSpPr>
        <p:spPr>
          <a:xfrm>
            <a:off x="7406640" y="3785616"/>
            <a:ext cx="1280160" cy="713232"/>
          </a:xfrm>
          <a:prstGeom prst="roundRect">
            <a:avLst>
              <a:gd name="adj" fmla="val 10256"/>
            </a:avLst>
          </a:prstGeom>
          <a:solidFill>
            <a:srgbClr val="151E30"/>
          </a:solidFill>
          <a:ln w="9525">
            <a:solidFill>
              <a:srgbClr val="223047"/>
            </a:solidFill>
            <a:prstDash val="solid"/>
          </a:ln>
        </p:spPr>
      </p:sp>
      <p:sp>
        <p:nvSpPr>
          <p:cNvPr id="40" name="Text 36"/>
          <p:cNvSpPr txBox="1"/>
          <p:nvPr/>
        </p:nvSpPr>
        <p:spPr>
          <a:xfrm>
            <a:off x="7452360" y="3858768"/>
            <a:ext cx="1188720" cy="256032"/>
          </a:xfrm>
          <a:prstGeom prst="rect">
            <a:avLst/>
          </a:prstGeom>
          <a:noFill/>
          <a:ln/>
        </p:spPr>
        <p:txBody>
          <a:bodyPr wrap="square" lIns="0" tIns="0" rIns="0" bIns="0" rtlCol="0" anchor="ctr"/>
          <a:lstStyle/>
          <a:p>
            <a:pPr algn="ctr" indent="0" marL="0">
              <a:buNone/>
            </a:pPr>
            <a:r>
              <a:rPr lang="en-US" sz="1000" b="1" dirty="0">
                <a:solidFill>
                  <a:srgbClr val="F1F5F9"/>
                </a:solidFill>
                <a:latin typeface="Calibri" pitchFamily="34" charset="0"/>
                <a:ea typeface="Calibri" pitchFamily="34" charset="-122"/>
                <a:cs typeface="Calibri" pitchFamily="34" charset="-120"/>
              </a:rPr>
              <a:t>System commands</a:t>
            </a:r>
            <a:endParaRPr lang="en-US" sz="1000" dirty="0"/>
          </a:p>
        </p:txBody>
      </p:sp>
      <p:sp>
        <p:nvSpPr>
          <p:cNvPr id="41" name="Shape 37"/>
          <p:cNvSpPr/>
          <p:nvPr/>
        </p:nvSpPr>
        <p:spPr>
          <a:xfrm>
            <a:off x="7680960" y="4178808"/>
            <a:ext cx="731520" cy="237744"/>
          </a:xfrm>
          <a:prstGeom prst="roundRect">
            <a:avLst>
              <a:gd name="adj" fmla="val 50000"/>
            </a:avLst>
          </a:prstGeom>
          <a:solidFill>
            <a:srgbClr val="F59E0B"/>
          </a:solidFill>
          <a:ln w="12700">
            <a:solidFill>
              <a:srgbClr val="F59E0B"/>
            </a:solidFill>
            <a:prstDash val="solid"/>
          </a:ln>
        </p:spPr>
      </p:sp>
      <p:sp>
        <p:nvSpPr>
          <p:cNvPr id="42" name="Text 38"/>
          <p:cNvSpPr txBox="1"/>
          <p:nvPr/>
        </p:nvSpPr>
        <p:spPr>
          <a:xfrm>
            <a:off x="7680960" y="4178808"/>
            <a:ext cx="731520" cy="237744"/>
          </a:xfrm>
          <a:prstGeom prst="rect">
            <a:avLst/>
          </a:prstGeom>
          <a:noFill/>
          <a:ln/>
        </p:spPr>
        <p:txBody>
          <a:bodyPr wrap="square" lIns="0" tIns="0" rIns="0" bIns="0" rtlCol="0" anchor="ctr"/>
          <a:lstStyle/>
          <a:p>
            <a:pPr algn="ctr" indent="0" marL="0">
              <a:buNone/>
            </a:pPr>
            <a:r>
              <a:rPr lang="en-US" sz="900" b="1" dirty="0">
                <a:solidFill>
                  <a:srgbClr val="0B1220"/>
                </a:solidFill>
                <a:latin typeface="Calibri" pitchFamily="34" charset="0"/>
                <a:ea typeface="Calibri" pitchFamily="34" charset="-122"/>
                <a:cs typeface="Calibri" pitchFamily="34" charset="-120"/>
              </a:rPr>
              <a:t>ASK</a:t>
            </a:r>
            <a:endParaRPr lang="en-US" sz="900" dirty="0"/>
          </a:p>
        </p:txBody>
      </p:sp>
      <p:sp>
        <p:nvSpPr>
          <p:cNvPr id="43" name="Text 39"/>
          <p:cNvSpPr txBox="1"/>
          <p:nvPr/>
        </p:nvSpPr>
        <p:spPr>
          <a:xfrm>
            <a:off x="457200" y="4599432"/>
            <a:ext cx="7772400" cy="256032"/>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Blocked operations never execute. Detection, policy and blocking are deterministic and local. The AI analyst sits on top: it investigates the evidence with tools and proposes — it never enforces.</a:t>
            </a:r>
            <a:endParaRPr lang="en-US" sz="1150" dirty="0"/>
          </a:p>
        </p:txBody>
      </p:sp>
      <p:sp>
        <p:nvSpPr>
          <p:cNvPr id="44" name="Text 40"/>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How it works</a:t>
            </a:r>
            <a:endParaRPr lang="en-US" sz="2800" dirty="0"/>
          </a:p>
        </p:txBody>
      </p:sp>
      <p:sp>
        <p:nvSpPr>
          <p:cNvPr id="3" name="Text 1"/>
          <p:cNvSpPr txBox="1"/>
          <p:nvPr/>
        </p:nvSpPr>
        <p:spPr>
          <a:xfrm>
            <a:off x="457200" y="841248"/>
            <a:ext cx="822960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Three layers plus an advisory AI analyst. No changes to the IDE platform, none to the plugins being watched.</a:t>
            </a:r>
            <a:endParaRPr lang="en-US" sz="1300" dirty="0"/>
          </a:p>
        </p:txBody>
      </p:sp>
      <p:sp>
        <p:nvSpPr>
          <p:cNvPr id="4" name="Shape 2"/>
          <p:cNvSpPr/>
          <p:nvPr/>
        </p:nvSpPr>
        <p:spPr>
          <a:xfrm>
            <a:off x="457200" y="1325880"/>
            <a:ext cx="2606040" cy="2606040"/>
          </a:xfrm>
          <a:prstGeom prst="roundRect">
            <a:avLst>
              <a:gd name="adj" fmla="val 2807"/>
            </a:avLst>
          </a:prstGeom>
          <a:solidFill>
            <a:srgbClr val="151E30"/>
          </a:solidFill>
          <a:ln w="9525">
            <a:solidFill>
              <a:srgbClr val="223047"/>
            </a:solidFill>
            <a:prstDash val="solid"/>
          </a:ln>
        </p:spPr>
      </p:sp>
      <p:sp>
        <p:nvSpPr>
          <p:cNvPr id="5" name="Shape 3"/>
          <p:cNvSpPr/>
          <p:nvPr/>
        </p:nvSpPr>
        <p:spPr>
          <a:xfrm>
            <a:off x="621792" y="1490472"/>
            <a:ext cx="384048" cy="384048"/>
          </a:xfrm>
          <a:prstGeom prst="ellipse">
            <a:avLst/>
          </a:prstGeom>
          <a:solidFill>
            <a:srgbClr val="123A52"/>
          </a:solidFill>
          <a:ln w="12700">
            <a:solidFill>
              <a:srgbClr val="123A52"/>
            </a:solidFill>
            <a:prstDash val="solid"/>
          </a:ln>
        </p:spPr>
      </p:sp>
      <p:sp>
        <p:nvSpPr>
          <p:cNvPr id="6" name="Text 4"/>
          <p:cNvSpPr txBox="1"/>
          <p:nvPr/>
        </p:nvSpPr>
        <p:spPr>
          <a:xfrm>
            <a:off x="621792" y="1490472"/>
            <a:ext cx="384048" cy="384048"/>
          </a:xfrm>
          <a:prstGeom prst="rect">
            <a:avLst/>
          </a:prstGeom>
          <a:noFill/>
          <a:ln/>
        </p:spPr>
        <p:txBody>
          <a:bodyPr wrap="square" lIns="0" tIns="0" rIns="0" bIns="0" rtlCol="0" anchor="ctr"/>
          <a:lstStyle/>
          <a:p>
            <a:pPr algn="ctr" indent="0" marL="0">
              <a:buNone/>
            </a:pPr>
            <a:r>
              <a:rPr lang="en-US" sz="1500" b="1" dirty="0">
                <a:solidFill>
                  <a:srgbClr val="38BDF8"/>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15568" y="1453896"/>
            <a:ext cx="18288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JVM agent</a:t>
            </a:r>
            <a:endParaRPr lang="en-US" sz="1500" dirty="0"/>
          </a:p>
        </p:txBody>
      </p:sp>
      <p:sp>
        <p:nvSpPr>
          <p:cNvPr id="8" name="Text 6"/>
          <p:cNvSpPr txBox="1"/>
          <p:nvPr/>
        </p:nvSpPr>
        <p:spPr>
          <a:xfrm>
            <a:off x="1115568" y="1709928"/>
            <a:ext cx="1828800" cy="201168"/>
          </a:xfrm>
          <a:prstGeom prst="rect">
            <a:avLst/>
          </a:prstGeom>
          <a:noFill/>
          <a:ln/>
        </p:spPr>
        <p:txBody>
          <a:bodyPr wrap="square" lIns="0" tIns="0" rIns="0" bIns="0" rtlCol="0" anchor="ctr"/>
          <a:lstStyle/>
          <a:p>
            <a:pPr indent="0" marL="0">
              <a:buNone/>
            </a:pPr>
            <a:r>
              <a:rPr lang="en-US" sz="950" dirty="0">
                <a:solidFill>
                  <a:srgbClr val="38BDF8"/>
                </a:solidFill>
                <a:latin typeface="Calibri" pitchFamily="34" charset="0"/>
                <a:ea typeface="Calibri" pitchFamily="34" charset="-122"/>
                <a:cs typeface="Calibri" pitchFamily="34" charset="-120"/>
              </a:rPr>
              <a:t>-javaagent · ASM bytecode rewriting</a:t>
            </a:r>
            <a:endParaRPr lang="en-US" sz="950" dirty="0"/>
          </a:p>
        </p:txBody>
      </p:sp>
      <p:sp>
        <p:nvSpPr>
          <p:cNvPr id="9" name="Text 7"/>
          <p:cNvSpPr txBox="1"/>
          <p:nvPr/>
        </p:nvSpPr>
        <p:spPr>
          <a:xfrm>
            <a:off x="621792" y="2039112"/>
            <a:ext cx="2276856" cy="17830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Rewrites 122 sensitive call sites: Files.*, System.getenv, ProcessBuilder, Socket.connect, HttpClient.send, IntelliJ VirtualFile / GeneralCommandLine…</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Third-party plugin bytecode only — JDK, platform and bundled JetBrains plugins are never touched</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Attribution from the PluginClassLoader: plugin ID, name, version, vendor — never a guess</a:t>
            </a:r>
            <a:endParaRPr lang="en-US" sz="1000" dirty="0"/>
          </a:p>
        </p:txBody>
      </p:sp>
      <p:sp>
        <p:nvSpPr>
          <p:cNvPr id="10" name="Shape 8"/>
          <p:cNvSpPr/>
          <p:nvPr/>
        </p:nvSpPr>
        <p:spPr>
          <a:xfrm>
            <a:off x="3268980" y="1325880"/>
            <a:ext cx="2606040" cy="2606040"/>
          </a:xfrm>
          <a:prstGeom prst="roundRect">
            <a:avLst>
              <a:gd name="adj" fmla="val 2807"/>
            </a:avLst>
          </a:prstGeom>
          <a:solidFill>
            <a:srgbClr val="151E30"/>
          </a:solidFill>
          <a:ln w="9525">
            <a:solidFill>
              <a:srgbClr val="223047"/>
            </a:solidFill>
            <a:prstDash val="solid"/>
          </a:ln>
        </p:spPr>
      </p:sp>
      <p:sp>
        <p:nvSpPr>
          <p:cNvPr id="11" name="Shape 9"/>
          <p:cNvSpPr/>
          <p:nvPr/>
        </p:nvSpPr>
        <p:spPr>
          <a:xfrm>
            <a:off x="3433572" y="1490472"/>
            <a:ext cx="384048" cy="384048"/>
          </a:xfrm>
          <a:prstGeom prst="ellipse">
            <a:avLst/>
          </a:prstGeom>
          <a:solidFill>
            <a:srgbClr val="123A52"/>
          </a:solidFill>
          <a:ln w="12700">
            <a:solidFill>
              <a:srgbClr val="123A52"/>
            </a:solidFill>
            <a:prstDash val="solid"/>
          </a:ln>
        </p:spPr>
      </p:sp>
      <p:sp>
        <p:nvSpPr>
          <p:cNvPr id="12" name="Text 10"/>
          <p:cNvSpPr txBox="1"/>
          <p:nvPr/>
        </p:nvSpPr>
        <p:spPr>
          <a:xfrm>
            <a:off x="3433572" y="1490472"/>
            <a:ext cx="384048" cy="384048"/>
          </a:xfrm>
          <a:prstGeom prst="rect">
            <a:avLst/>
          </a:prstGeom>
          <a:noFill/>
          <a:ln/>
        </p:spPr>
        <p:txBody>
          <a:bodyPr wrap="square" lIns="0" tIns="0" rIns="0" bIns="0" rtlCol="0" anchor="ctr"/>
          <a:lstStyle/>
          <a:p>
            <a:pPr algn="ctr" indent="0" marL="0">
              <a:buNone/>
            </a:pPr>
            <a:r>
              <a:rPr lang="en-US" sz="1500" b="1" dirty="0">
                <a:solidFill>
                  <a:srgbClr val="38BDF8"/>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927348" y="1453896"/>
            <a:ext cx="18288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Bootstrap bridge</a:t>
            </a:r>
            <a:endParaRPr lang="en-US" sz="1500" dirty="0"/>
          </a:p>
        </p:txBody>
      </p:sp>
      <p:sp>
        <p:nvSpPr>
          <p:cNvPr id="14" name="Text 12"/>
          <p:cNvSpPr txBox="1"/>
          <p:nvPr/>
        </p:nvSpPr>
        <p:spPr>
          <a:xfrm>
            <a:off x="3927348" y="1709928"/>
            <a:ext cx="1828800" cy="201168"/>
          </a:xfrm>
          <a:prstGeom prst="rect">
            <a:avLst/>
          </a:prstGeom>
          <a:noFill/>
          <a:ln/>
        </p:spPr>
        <p:txBody>
          <a:bodyPr wrap="square" lIns="0" tIns="0" rIns="0" bIns="0" rtlCol="0" anchor="ctr"/>
          <a:lstStyle/>
          <a:p>
            <a:pPr indent="0" marL="0">
              <a:buNone/>
            </a:pPr>
            <a:r>
              <a:rPr lang="en-US" sz="950" dirty="0">
                <a:solidFill>
                  <a:srgbClr val="38BDF8"/>
                </a:solidFill>
                <a:latin typeface="Calibri" pitchFamily="34" charset="0"/>
                <a:ea typeface="Calibri" pitchFamily="34" charset="-122"/>
                <a:cs typeface="Calibri" pitchFamily="34" charset="-120"/>
              </a:rPr>
              <a:t>boot class path · ~40 KB · no dependencies</a:t>
            </a:r>
            <a:endParaRPr lang="en-US" sz="950" dirty="0"/>
          </a:p>
        </p:txBody>
      </p:sp>
      <p:sp>
        <p:nvSpPr>
          <p:cNvPr id="15" name="Text 13"/>
          <p:cNvSpPr txBox="1"/>
          <p:nvPr/>
        </p:nvSpPr>
        <p:spPr>
          <a:xfrm>
            <a:off x="3433572" y="2039112"/>
            <a:ext cx="2276856" cy="17830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One GuardBridge visible from every class loader in the JVM</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Hook → redacted SecurityRequest → decide() → run the original call, or throw SecurityException</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Re-entrancy guard so PluginFence never intercepts itself; no provider yet? allow and buffer — it never bricks the IDE</a:t>
            </a:r>
            <a:endParaRPr lang="en-US" sz="1000" dirty="0"/>
          </a:p>
        </p:txBody>
      </p:sp>
      <p:sp>
        <p:nvSpPr>
          <p:cNvPr id="16" name="Shape 14"/>
          <p:cNvSpPr/>
          <p:nvPr/>
        </p:nvSpPr>
        <p:spPr>
          <a:xfrm>
            <a:off x="6080760" y="1325880"/>
            <a:ext cx="2606040" cy="2606040"/>
          </a:xfrm>
          <a:prstGeom prst="roundRect">
            <a:avLst>
              <a:gd name="adj" fmla="val 2807"/>
            </a:avLst>
          </a:prstGeom>
          <a:solidFill>
            <a:srgbClr val="151E30"/>
          </a:solidFill>
          <a:ln w="9525">
            <a:solidFill>
              <a:srgbClr val="223047"/>
            </a:solidFill>
            <a:prstDash val="solid"/>
          </a:ln>
        </p:spPr>
      </p:sp>
      <p:sp>
        <p:nvSpPr>
          <p:cNvPr id="17" name="Shape 15"/>
          <p:cNvSpPr/>
          <p:nvPr/>
        </p:nvSpPr>
        <p:spPr>
          <a:xfrm>
            <a:off x="6245352" y="1490472"/>
            <a:ext cx="384048" cy="384048"/>
          </a:xfrm>
          <a:prstGeom prst="ellipse">
            <a:avLst/>
          </a:prstGeom>
          <a:solidFill>
            <a:srgbClr val="123A52"/>
          </a:solidFill>
          <a:ln w="12700">
            <a:solidFill>
              <a:srgbClr val="123A52"/>
            </a:solidFill>
            <a:prstDash val="solid"/>
          </a:ln>
        </p:spPr>
      </p:sp>
      <p:sp>
        <p:nvSpPr>
          <p:cNvPr id="18" name="Text 16"/>
          <p:cNvSpPr txBox="1"/>
          <p:nvPr/>
        </p:nvSpPr>
        <p:spPr>
          <a:xfrm>
            <a:off x="6245352" y="1490472"/>
            <a:ext cx="384048" cy="384048"/>
          </a:xfrm>
          <a:prstGeom prst="rect">
            <a:avLst/>
          </a:prstGeom>
          <a:noFill/>
          <a:ln/>
        </p:spPr>
        <p:txBody>
          <a:bodyPr wrap="square" lIns="0" tIns="0" rIns="0" bIns="0" rtlCol="0" anchor="ctr"/>
          <a:lstStyle/>
          <a:p>
            <a:pPr algn="ctr" indent="0" marL="0">
              <a:buNone/>
            </a:pPr>
            <a:r>
              <a:rPr lang="en-US" sz="1500" b="1" dirty="0">
                <a:solidFill>
                  <a:srgbClr val="38BDF8"/>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739128" y="1453896"/>
            <a:ext cx="18288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IntelliJ plugin</a:t>
            </a:r>
            <a:endParaRPr lang="en-US" sz="1500" dirty="0"/>
          </a:p>
        </p:txBody>
      </p:sp>
      <p:sp>
        <p:nvSpPr>
          <p:cNvPr id="20" name="Text 18"/>
          <p:cNvSpPr txBox="1"/>
          <p:nvPr/>
        </p:nvSpPr>
        <p:spPr>
          <a:xfrm>
            <a:off x="6739128" y="1709928"/>
            <a:ext cx="1828800" cy="201168"/>
          </a:xfrm>
          <a:prstGeom prst="rect">
            <a:avLst/>
          </a:prstGeom>
          <a:noFill/>
          <a:ln/>
        </p:spPr>
        <p:txBody>
          <a:bodyPr wrap="square" lIns="0" tIns="0" rIns="0" bIns="0" rtlCol="0" anchor="ctr"/>
          <a:lstStyle/>
          <a:p>
            <a:pPr indent="0" marL="0">
              <a:buNone/>
            </a:pPr>
            <a:r>
              <a:rPr lang="en-US" sz="950" dirty="0">
                <a:solidFill>
                  <a:srgbClr val="38BDF8"/>
                </a:solidFill>
                <a:latin typeface="Calibri" pitchFamily="34" charset="0"/>
                <a:ea typeface="Calibri" pitchFamily="34" charset="-122"/>
                <a:cs typeface="Calibri" pitchFamily="34" charset="-120"/>
              </a:rPr>
              <a:t>Kotlin · policy, baselines, drift, UI</a:t>
            </a:r>
            <a:endParaRPr lang="en-US" sz="950" dirty="0"/>
          </a:p>
        </p:txBody>
      </p:sp>
      <p:sp>
        <p:nvSpPr>
          <p:cNvPr id="21" name="Text 19"/>
          <p:cNvSpPr txBox="1"/>
          <p:nvPr/>
        </p:nvSpPr>
        <p:spPr>
          <a:xfrm>
            <a:off x="6245352" y="2039112"/>
            <a:ext cx="2276856" cy="17830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Registers the DecisionProvider at startup; policy is evaluated in-memory in microseconds</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Background thread: baselines, drift, correlation, notifications, bounded persistence</a:t>
            </a:r>
            <a:endParaRPr lang="en-US" sz="1000" dirty="0"/>
          </a:p>
          <a:p>
            <a:pPr marL="127000" indent="-127000">
              <a:spcAft>
                <a:spcPts val="400"/>
              </a:spcAft>
              <a:buSzPct val="100000"/>
              <a:buChar char="•"/>
            </a:pPr>
            <a:r>
              <a:rPr lang="en-US" sz="1000" dirty="0">
                <a:solidFill>
                  <a:srgbClr val="F1F5F9"/>
                </a:solidFill>
                <a:latin typeface="Calibri" pitchFamily="34" charset="0"/>
                <a:ea typeface="Calibri" pitchFamily="34" charset="-122"/>
                <a:cs typeface="Calibri" pitchFamily="34" charset="-120"/>
              </a:rPr>
              <a:t>Native tool window: Overview · Activity · Permissions · Drift — plus the AI analyst: a tool-calling agent (OpenAI or a local model) that investigates incidents, updates and plugins and proposes the policy you apply with one click</a:t>
            </a:r>
            <a:endParaRPr lang="en-US" sz="1000" dirty="0"/>
          </a:p>
        </p:txBody>
      </p:sp>
      <p:sp>
        <p:nvSpPr>
          <p:cNvPr id="22" name="Shape 20"/>
          <p:cNvSpPr/>
          <p:nvPr/>
        </p:nvSpPr>
        <p:spPr>
          <a:xfrm>
            <a:off x="457200" y="4069080"/>
            <a:ext cx="8229600" cy="685800"/>
          </a:xfrm>
          <a:prstGeom prst="roundRect">
            <a:avLst>
              <a:gd name="adj" fmla="val 8000"/>
            </a:avLst>
          </a:prstGeom>
          <a:solidFill>
            <a:srgbClr val="0A1020"/>
          </a:solidFill>
          <a:ln w="9525">
            <a:solidFill>
              <a:srgbClr val="223047"/>
            </a:solidFill>
            <a:prstDash val="solid"/>
          </a:ln>
        </p:spPr>
      </p:sp>
      <p:sp>
        <p:nvSpPr>
          <p:cNvPr id="23" name="Text 21"/>
          <p:cNvSpPr txBox="1"/>
          <p:nvPr/>
        </p:nvSpPr>
        <p:spPr>
          <a:xfrm>
            <a:off x="594360" y="4160520"/>
            <a:ext cx="7955280" cy="502920"/>
          </a:xfrm>
          <a:prstGeom prst="rect">
            <a:avLst/>
          </a:prstGeom>
          <a:noFill/>
          <a:ln/>
        </p:spPr>
        <p:txBody>
          <a:bodyPr wrap="square" lIns="0" tIns="0" rIns="0" bIns="0" rtlCol="0" anchor="t"/>
          <a:lstStyle/>
          <a:p>
            <a:pPr indent="0" marL="0">
              <a:buNone/>
            </a:pPr>
            <a:r>
              <a:rPr lang="en-US" sz="850" b="1" dirty="0">
                <a:solidFill>
                  <a:srgbClr val="64748B"/>
                </a:solidFill>
                <a:latin typeface="Calibri" pitchFamily="34" charset="0"/>
                <a:ea typeface="Calibri" pitchFamily="34" charset="-122"/>
                <a:cs typeface="Calibri" pitchFamily="34" charset="-120"/>
              </a:rPr>
              <a:t>ONE REWRITTEN CALL SITE</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Files.readString(path)</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GuardHooks.Files_readString(path, token, "com.example.Caller")</a:t>
            </a:r>
            <a:endParaRPr lang="en-US" sz="1050" dirty="0"/>
          </a:p>
        </p:txBody>
      </p:sp>
      <p:sp>
        <p:nvSpPr>
          <p:cNvPr id="24" name="Text 22"/>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It also notices when a plugin changes</a:t>
            </a:r>
            <a:endParaRPr lang="en-US" sz="2800" dirty="0"/>
          </a:p>
        </p:txBody>
      </p:sp>
      <p:sp>
        <p:nvSpPr>
          <p:cNvPr id="3" name="Shape 1"/>
          <p:cNvSpPr/>
          <p:nvPr/>
        </p:nvSpPr>
        <p:spPr>
          <a:xfrm>
            <a:off x="457200" y="1097280"/>
            <a:ext cx="420624" cy="420624"/>
          </a:xfrm>
          <a:prstGeom prst="ellipse">
            <a:avLst/>
          </a:prstGeom>
          <a:solidFill>
            <a:srgbClr val="123A52"/>
          </a:solidFill>
          <a:ln w="12700">
            <a:solidFill>
              <a:srgbClr val="123A52"/>
            </a:solidFill>
            <a:prstDash val="solid"/>
          </a:ln>
        </p:spPr>
      </p:sp>
      <p:pic>
        <p:nvPicPr>
          <p:cNvPr id="4" name="Image 0" descr="preencoded.png">    </p:cNvPr>
          <p:cNvPicPr>
            <a:picLocks noChangeAspect="1"/>
          </p:cNvPicPr>
          <p:nvPr/>
        </p:nvPicPr>
        <p:blipFill>
          <a:blip r:embed="rId1"/>
          <a:stretch>
            <a:fillRect/>
          </a:stretch>
        </p:blipFill>
        <p:spPr>
          <a:xfrm>
            <a:off x="562356" y="1202436"/>
            <a:ext cx="210312" cy="210312"/>
          </a:xfrm>
          <a:prstGeom prst="rect">
            <a:avLst/>
          </a:prstGeom>
        </p:spPr>
      </p:pic>
      <p:sp>
        <p:nvSpPr>
          <p:cNvPr id="5" name="Text 2"/>
          <p:cNvSpPr txBox="1"/>
          <p:nvPr/>
        </p:nvSpPr>
        <p:spPr>
          <a:xfrm>
            <a:off x="1005840" y="1097280"/>
            <a:ext cx="393192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Behavior baselines</a:t>
            </a:r>
            <a:endParaRPr lang="en-US" sz="1450" dirty="0"/>
          </a:p>
        </p:txBody>
      </p:sp>
      <p:sp>
        <p:nvSpPr>
          <p:cNvPr id="6" name="Text 3"/>
          <p:cNvSpPr txBox="1"/>
          <p:nvPr/>
        </p:nvSpPr>
        <p:spPr>
          <a:xfrm>
            <a:off x="1005840" y="1426464"/>
            <a:ext cx="393192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 deterministic profile per plugin version: capabilities used, hosts contacted, executables launched, sensitive-resource categories touched. No ML.</a:t>
            </a:r>
            <a:endParaRPr lang="en-US" sz="1100" dirty="0"/>
          </a:p>
        </p:txBody>
      </p:sp>
      <p:sp>
        <p:nvSpPr>
          <p:cNvPr id="7" name="Shape 4"/>
          <p:cNvSpPr/>
          <p:nvPr/>
        </p:nvSpPr>
        <p:spPr>
          <a:xfrm>
            <a:off x="457200" y="2121408"/>
            <a:ext cx="420624" cy="420624"/>
          </a:xfrm>
          <a:prstGeom prst="ellipse">
            <a:avLst/>
          </a:prstGeom>
          <a:solidFill>
            <a:srgbClr val="3D2A0F"/>
          </a:solidFill>
          <a:ln w="12700">
            <a:solidFill>
              <a:srgbClr val="3D2A0F"/>
            </a:solidFill>
            <a:prstDash val="solid"/>
          </a:ln>
        </p:spPr>
      </p:sp>
      <p:pic>
        <p:nvPicPr>
          <p:cNvPr id="8" name="Image 1" descr="preencoded.png">    </p:cNvPr>
          <p:cNvPicPr>
            <a:picLocks noChangeAspect="1"/>
          </p:cNvPicPr>
          <p:nvPr/>
        </p:nvPicPr>
        <p:blipFill>
          <a:blip r:embed="rId2"/>
          <a:stretch>
            <a:fillRect/>
          </a:stretch>
        </p:blipFill>
        <p:spPr>
          <a:xfrm>
            <a:off x="562356" y="2226564"/>
            <a:ext cx="210312" cy="210312"/>
          </a:xfrm>
          <a:prstGeom prst="rect">
            <a:avLst/>
          </a:prstGeom>
        </p:spPr>
      </p:pic>
      <p:sp>
        <p:nvSpPr>
          <p:cNvPr id="9" name="Text 5"/>
          <p:cNvSpPr txBox="1"/>
          <p:nvPr/>
        </p:nvSpPr>
        <p:spPr>
          <a:xfrm>
            <a:off x="1005840" y="2121408"/>
            <a:ext cx="393192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Behavior drift</a:t>
            </a:r>
            <a:endParaRPr lang="en-US" sz="1450" dirty="0"/>
          </a:p>
        </p:txBody>
      </p:sp>
      <p:sp>
        <p:nvSpPr>
          <p:cNvPr id="10" name="Text 6"/>
          <p:cNvSpPr txBox="1"/>
          <p:nvPr/>
        </p:nvSpPr>
        <p:spPr>
          <a:xfrm>
            <a:off x="1005840" y="2450592"/>
            <a:ext cx="393192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 new version appears? PluginFence shows exactly what it does that the previous version never did — with a risk rating and a HIGH-RISK BEHAVIOR CHANGE banner.</a:t>
            </a:r>
            <a:endParaRPr lang="en-US" sz="1100" dirty="0"/>
          </a:p>
        </p:txBody>
      </p:sp>
      <p:sp>
        <p:nvSpPr>
          <p:cNvPr id="11" name="Shape 7"/>
          <p:cNvSpPr/>
          <p:nvPr/>
        </p:nvSpPr>
        <p:spPr>
          <a:xfrm>
            <a:off x="457200" y="3145536"/>
            <a:ext cx="420624" cy="420624"/>
          </a:xfrm>
          <a:prstGeom prst="ellipse">
            <a:avLst/>
          </a:prstGeom>
          <a:solidFill>
            <a:srgbClr val="3F1520"/>
          </a:solidFill>
          <a:ln w="12700">
            <a:solidFill>
              <a:srgbClr val="3F1520"/>
            </a:solidFill>
            <a:prstDash val="solid"/>
          </a:ln>
        </p:spPr>
      </p:sp>
      <p:pic>
        <p:nvPicPr>
          <p:cNvPr id="12" name="Image 2" descr="preencoded.png">    </p:cNvPr>
          <p:cNvPicPr>
            <a:picLocks noChangeAspect="1"/>
          </p:cNvPicPr>
          <p:nvPr/>
        </p:nvPicPr>
        <p:blipFill>
          <a:blip r:embed="rId3"/>
          <a:stretch>
            <a:fillRect/>
          </a:stretch>
        </p:blipFill>
        <p:spPr>
          <a:xfrm>
            <a:off x="562356" y="3250692"/>
            <a:ext cx="210312" cy="210312"/>
          </a:xfrm>
          <a:prstGeom prst="rect">
            <a:avLst/>
          </a:prstGeom>
        </p:spPr>
      </p:pic>
      <p:sp>
        <p:nvSpPr>
          <p:cNvPr id="13" name="Text 8"/>
          <p:cNvSpPr txBox="1"/>
          <p:nvPr/>
        </p:nvSpPr>
        <p:spPr>
          <a:xfrm>
            <a:off x="1005840" y="3145536"/>
            <a:ext cx="393192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Correlation</a:t>
            </a:r>
            <a:endParaRPr lang="en-US" sz="1450" dirty="0"/>
          </a:p>
        </p:txBody>
      </p:sp>
      <p:sp>
        <p:nvSpPr>
          <p:cNvPr id="14" name="Text 9"/>
          <p:cNvSpPr txBox="1"/>
          <p:nvPr/>
        </p:nvSpPr>
        <p:spPr>
          <a:xfrm>
            <a:off x="1005840" y="3474720"/>
            <a:ext cx="393192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Sensitive file read → new outbound connection within 10 s = POTENTIAL SECRET EXFILTRATION. The network leg is blocked outright, not just reported.</a:t>
            </a:r>
            <a:endParaRPr lang="en-US" sz="1100" dirty="0"/>
          </a:p>
        </p:txBody>
      </p:sp>
      <p:sp>
        <p:nvSpPr>
          <p:cNvPr id="15" name="Text 10"/>
          <p:cNvSpPr txBox="1"/>
          <p:nvPr/>
        </p:nvSpPr>
        <p:spPr>
          <a:xfrm>
            <a:off x="457200" y="4224528"/>
            <a:ext cx="4480560" cy="457200"/>
          </a:xfrm>
          <a:prstGeom prst="rect">
            <a:avLst/>
          </a:prstGeom>
          <a:noFill/>
          <a:ln/>
        </p:spPr>
        <p:txBody>
          <a:bodyPr wrap="square" lIns="0" tIns="0" rIns="0" bIns="0" rtlCol="0" anchor="t"/>
          <a:lstStyle/>
          <a:p>
            <a:pPr indent="0" marL="0">
              <a:buNone/>
            </a:pPr>
            <a:r>
              <a:rPr lang="en-US" sz="1100" i="1" dirty="0">
                <a:solidFill>
                  <a:srgbClr val="38BDF8"/>
                </a:solidFill>
                <a:latin typeface="Calibri" pitchFamily="34" charset="0"/>
                <a:ea typeface="Calibri" pitchFamily="34" charset="-122"/>
                <a:cs typeface="Calibri" pitchFamily="34" charset="-120"/>
              </a:rPr>
              <a:t>Sequences matter: individually explainable events become one incident with an attack chain.</a:t>
            </a:r>
            <a:endParaRPr lang="en-US" sz="1100" dirty="0"/>
          </a:p>
        </p:txBody>
      </p:sp>
      <p:sp>
        <p:nvSpPr>
          <p:cNvPr id="16" name="Shape 11"/>
          <p:cNvSpPr/>
          <p:nvPr/>
        </p:nvSpPr>
        <p:spPr>
          <a:xfrm>
            <a:off x="5303520" y="1097280"/>
            <a:ext cx="3383280" cy="3657600"/>
          </a:xfrm>
          <a:prstGeom prst="roundRect">
            <a:avLst>
              <a:gd name="adj" fmla="val 2162"/>
            </a:avLst>
          </a:prstGeom>
          <a:solidFill>
            <a:srgbClr val="151E30"/>
          </a:solidFill>
          <a:ln w="9525">
            <a:solidFill>
              <a:srgbClr val="223047"/>
            </a:solidFill>
            <a:prstDash val="solid"/>
          </a:ln>
        </p:spPr>
      </p:sp>
      <p:sp>
        <p:nvSpPr>
          <p:cNvPr id="17" name="Text 12"/>
          <p:cNvSpPr txBox="1"/>
          <p:nvPr/>
        </p:nvSpPr>
        <p:spPr>
          <a:xfrm>
            <a:off x="5440680" y="1188720"/>
            <a:ext cx="3108960" cy="201168"/>
          </a:xfrm>
          <a:prstGeom prst="rect">
            <a:avLst/>
          </a:prstGeom>
          <a:noFill/>
          <a:ln/>
        </p:spPr>
        <p:txBody>
          <a:bodyPr wrap="square" lIns="0" tIns="0" rIns="0" bIns="0" rtlCol="0" anchor="t"/>
          <a:lstStyle/>
          <a:p>
            <a:pPr indent="0" marL="0">
              <a:buNone/>
            </a:pPr>
            <a:r>
              <a:rPr lang="en-US" sz="900" b="1" spc="100" kern="0" dirty="0">
                <a:solidFill>
                  <a:srgbClr val="64748B"/>
                </a:solidFill>
                <a:latin typeface="Calibri" pitchFamily="34" charset="0"/>
                <a:ea typeface="Calibri" pitchFamily="34" charset="-122"/>
                <a:cs typeface="Calibri" pitchFamily="34" charset="-120"/>
              </a:rPr>
              <a:t>DETERMINISTIC RISK SCORE — WEIGHTS</a:t>
            </a:r>
            <a:endParaRPr lang="en-US" sz="900" dirty="0"/>
          </a:p>
        </p:txBody>
      </p:sp>
      <p:graphicFrame>
        <p:nvGraphicFramePr>
          <p:cNvPr id="18" name="Chart 0" descr=""/>
          <p:cNvGraphicFramePr/>
          <p:nvPr/>
        </p:nvGraphicFramePr>
        <p:xfrm>
          <a:off x="5349240" y="1417320"/>
          <a:ext cx="3291840" cy="2834640"/>
        </p:xfrm>
        <a:graphic xmlns:a="http://schemas.openxmlformats.org/drawingml/2006/main">
          <a:graphicData uri="http://schemas.openxmlformats.org/drawingml/2006/chart">
            <c:chart xmlns:c="http://schemas.openxmlformats.org/drawingml/2006/chart" r:id="rId4"/>
          </a:graphicData>
        </a:graphic>
      </p:graphicFrame>
      <p:sp>
        <p:nvSpPr>
          <p:cNvPr id="19" name="Text 13"/>
          <p:cNvSpPr txBox="1"/>
          <p:nvPr/>
        </p:nvSpPr>
        <p:spPr>
          <a:xfrm>
            <a:off x="5440680" y="4315968"/>
            <a:ext cx="3108960" cy="36576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0–19 INFO  ·  20–39 LOW  ·  40–59 MEDIUM</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60–79 HIGH  ·  80–100 CRITICAL</a:t>
            </a:r>
            <a:endParaRPr lang="en-US" sz="850" dirty="0"/>
          </a:p>
        </p:txBody>
      </p:sp>
      <p:sp>
        <p:nvSpPr>
          <p:cNvPr id="20" name="Text 14"/>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Demo: the same plugin, one update later</a:t>
            </a:r>
            <a:endParaRPr lang="en-US" sz="2800" dirty="0"/>
          </a:p>
        </p:txBody>
      </p:sp>
      <p:sp>
        <p:nvSpPr>
          <p:cNvPr id="3" name="Shape 1"/>
          <p:cNvSpPr/>
          <p:nvPr/>
        </p:nvSpPr>
        <p:spPr>
          <a:xfrm>
            <a:off x="457200" y="1097280"/>
            <a:ext cx="2286000" cy="2423160"/>
          </a:xfrm>
          <a:prstGeom prst="roundRect">
            <a:avLst>
              <a:gd name="adj" fmla="val 3200"/>
            </a:avLst>
          </a:prstGeom>
          <a:solidFill>
            <a:srgbClr val="151E30"/>
          </a:solidFill>
          <a:ln w="9525">
            <a:solidFill>
              <a:srgbClr val="223047"/>
            </a:solidFill>
            <a:prstDash val="solid"/>
          </a:ln>
        </p:spPr>
      </p:sp>
      <p:sp>
        <p:nvSpPr>
          <p:cNvPr id="4" name="Text 2"/>
          <p:cNvSpPr txBox="1"/>
          <p:nvPr/>
        </p:nvSpPr>
        <p:spPr>
          <a:xfrm>
            <a:off x="594360" y="1188720"/>
            <a:ext cx="2011680" cy="182880"/>
          </a:xfrm>
          <a:prstGeom prst="rect">
            <a:avLst/>
          </a:prstGeom>
          <a:noFill/>
          <a:ln/>
        </p:spPr>
        <p:txBody>
          <a:bodyPr wrap="square" lIns="0" tIns="0" rIns="0" bIns="0" rtlCol="0" anchor="t"/>
          <a:lstStyle/>
          <a:p>
            <a:pPr indent="0" marL="0">
              <a:buNone/>
            </a:pPr>
            <a:r>
              <a:rPr lang="en-US" sz="900" b="1" spc="100" kern="0" dirty="0">
                <a:solidFill>
                  <a:srgbClr val="38BDF8"/>
                </a:solidFill>
                <a:latin typeface="Calibri" pitchFamily="34" charset="0"/>
                <a:ea typeface="Calibri" pitchFamily="34" charset="-122"/>
                <a:cs typeface="Calibri" pitchFamily="34" charset="-120"/>
              </a:rPr>
              <a:t>ACT 1</a:t>
            </a:r>
            <a:endParaRPr lang="en-US" sz="900" dirty="0"/>
          </a:p>
        </p:txBody>
      </p:sp>
      <p:sp>
        <p:nvSpPr>
          <p:cNvPr id="5" name="Text 3"/>
          <p:cNvSpPr txBox="1"/>
          <p:nvPr/>
        </p:nvSpPr>
        <p:spPr>
          <a:xfrm>
            <a:off x="594360" y="1389888"/>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Demo Helper 1.0.0</a:t>
            </a:r>
            <a:endParaRPr lang="en-US" sz="1400" dirty="0"/>
          </a:p>
        </p:txBody>
      </p:sp>
      <p:sp>
        <p:nvSpPr>
          <p:cNvPr id="6" name="Text 4"/>
          <p:cNvSpPr txBox="1"/>
          <p:nvPr/>
        </p:nvSpPr>
        <p:spPr>
          <a:xfrm>
            <a:off x="594360" y="1664208"/>
            <a:ext cx="2011680" cy="20116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 well-behaved plugin</a:t>
            </a:r>
            <a:endParaRPr lang="en-US" sz="1000" dirty="0"/>
          </a:p>
        </p:txBody>
      </p:sp>
      <p:sp>
        <p:nvSpPr>
          <p:cNvPr id="7" name="Text 5"/>
          <p:cNvSpPr txBox="1"/>
          <p:nvPr/>
        </p:nvSpPr>
        <p:spPr>
          <a:xfrm>
            <a:off x="594360" y="1938528"/>
            <a:ext cx="2011680" cy="54864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Click Normal Behavior: it reads a project file and calls its own loopback service.</a:t>
            </a:r>
            <a:endParaRPr lang="en-US" sz="1050" dirty="0"/>
          </a:p>
        </p:txBody>
      </p:sp>
      <p:sp>
        <p:nvSpPr>
          <p:cNvPr id="8" name="Shape 6"/>
          <p:cNvSpPr/>
          <p:nvPr/>
        </p:nvSpPr>
        <p:spPr>
          <a:xfrm>
            <a:off x="594360" y="2560320"/>
            <a:ext cx="685800" cy="219456"/>
          </a:xfrm>
          <a:prstGeom prst="roundRect">
            <a:avLst>
              <a:gd name="adj" fmla="val 50000"/>
            </a:avLst>
          </a:prstGeom>
          <a:solidFill>
            <a:srgbClr val="22C55E"/>
          </a:solidFill>
          <a:ln w="12700">
            <a:solidFill>
              <a:srgbClr val="22C55E"/>
            </a:solidFill>
            <a:prstDash val="solid"/>
          </a:ln>
        </p:spPr>
      </p:sp>
      <p:sp>
        <p:nvSpPr>
          <p:cNvPr id="9" name="Text 7"/>
          <p:cNvSpPr txBox="1"/>
          <p:nvPr/>
        </p:nvSpPr>
        <p:spPr>
          <a:xfrm>
            <a:off x="594360" y="2560320"/>
            <a:ext cx="685800"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ALLOWED</a:t>
            </a:r>
            <a:endParaRPr lang="en-US" sz="850" dirty="0"/>
          </a:p>
        </p:txBody>
      </p:sp>
      <p:sp>
        <p:nvSpPr>
          <p:cNvPr id="10" name="Text 8"/>
          <p:cNvSpPr txBox="1"/>
          <p:nvPr/>
        </p:nvSpPr>
        <p:spPr>
          <a:xfrm>
            <a:off x="1353312" y="2560320"/>
            <a:ext cx="1280160" cy="21945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File read — risk Info</a:t>
            </a:r>
            <a:endParaRPr lang="en-US" sz="950" dirty="0"/>
          </a:p>
        </p:txBody>
      </p:sp>
      <p:sp>
        <p:nvSpPr>
          <p:cNvPr id="11" name="Shape 9"/>
          <p:cNvSpPr/>
          <p:nvPr/>
        </p:nvSpPr>
        <p:spPr>
          <a:xfrm>
            <a:off x="594360" y="2834640"/>
            <a:ext cx="685800" cy="219456"/>
          </a:xfrm>
          <a:prstGeom prst="roundRect">
            <a:avLst>
              <a:gd name="adj" fmla="val 50000"/>
            </a:avLst>
          </a:prstGeom>
          <a:solidFill>
            <a:srgbClr val="22C55E"/>
          </a:solidFill>
          <a:ln w="12700">
            <a:solidFill>
              <a:srgbClr val="22C55E"/>
            </a:solidFill>
            <a:prstDash val="solid"/>
          </a:ln>
        </p:spPr>
      </p:sp>
      <p:sp>
        <p:nvSpPr>
          <p:cNvPr id="12" name="Text 10"/>
          <p:cNvSpPr txBox="1"/>
          <p:nvPr/>
        </p:nvSpPr>
        <p:spPr>
          <a:xfrm>
            <a:off x="594360" y="2834640"/>
            <a:ext cx="685800"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ALLOWED</a:t>
            </a:r>
            <a:endParaRPr lang="en-US" sz="850" dirty="0"/>
          </a:p>
        </p:txBody>
      </p:sp>
      <p:sp>
        <p:nvSpPr>
          <p:cNvPr id="13" name="Text 11"/>
          <p:cNvSpPr txBox="1"/>
          <p:nvPr/>
        </p:nvSpPr>
        <p:spPr>
          <a:xfrm>
            <a:off x="1353312" y="2834640"/>
            <a:ext cx="1280160" cy="21945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Network 127.0.0.1</a:t>
            </a:r>
            <a:endParaRPr lang="en-US" sz="950" dirty="0"/>
          </a:p>
        </p:txBody>
      </p:sp>
      <p:sp>
        <p:nvSpPr>
          <p:cNvPr id="14" name="Text 12"/>
          <p:cNvSpPr txBox="1"/>
          <p:nvPr/>
        </p:nvSpPr>
        <p:spPr>
          <a:xfrm>
            <a:off x="594360" y="3154680"/>
            <a:ext cx="2011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Drift: </a:t>
            </a:r>
            <a:pPr indent="0" marL="0">
              <a:buNone/>
            </a:pPr>
            <a:r>
              <a:rPr lang="en-US" sz="1000" b="1" dirty="0">
                <a:solidFill>
                  <a:srgbClr val="4ADE80"/>
                </a:solidFill>
                <a:latin typeface="Calibri" pitchFamily="34" charset="0"/>
                <a:ea typeface="Calibri" pitchFamily="34" charset="-122"/>
                <a:cs typeface="Calibri" pitchFamily="34" charset="-120"/>
              </a:rPr>
              <a:t>BASELINE ESTABLISHED</a:t>
            </a:r>
            <a:endParaRPr lang="en-US" sz="1000" dirty="0"/>
          </a:p>
        </p:txBody>
      </p:sp>
      <p:sp>
        <p:nvSpPr>
          <p:cNvPr id="15" name="Shape 13"/>
          <p:cNvSpPr/>
          <p:nvPr/>
        </p:nvSpPr>
        <p:spPr>
          <a:xfrm>
            <a:off x="2834640" y="2103120"/>
            <a:ext cx="365760" cy="329184"/>
          </a:xfrm>
          <a:prstGeom prst="rightArrow">
            <a:avLst/>
          </a:prstGeom>
          <a:solidFill>
            <a:srgbClr val="223047"/>
          </a:solidFill>
          <a:ln w="12700">
            <a:solidFill>
              <a:srgbClr val="223047"/>
            </a:solidFill>
            <a:prstDash val="solid"/>
          </a:ln>
        </p:spPr>
      </p:sp>
      <p:sp>
        <p:nvSpPr>
          <p:cNvPr id="16" name="Text 14"/>
          <p:cNvSpPr txBox="1"/>
          <p:nvPr/>
        </p:nvSpPr>
        <p:spPr>
          <a:xfrm>
            <a:off x="2743200" y="2450592"/>
            <a:ext cx="548640" cy="201168"/>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update</a:t>
            </a:r>
            <a:endParaRPr lang="en-US" sz="900" dirty="0"/>
          </a:p>
        </p:txBody>
      </p:sp>
      <p:sp>
        <p:nvSpPr>
          <p:cNvPr id="17" name="Shape 15"/>
          <p:cNvSpPr/>
          <p:nvPr/>
        </p:nvSpPr>
        <p:spPr>
          <a:xfrm>
            <a:off x="3291840" y="1097280"/>
            <a:ext cx="5394960" cy="2423160"/>
          </a:xfrm>
          <a:prstGeom prst="roundRect">
            <a:avLst>
              <a:gd name="adj" fmla="val 3019"/>
            </a:avLst>
          </a:prstGeom>
          <a:solidFill>
            <a:srgbClr val="151E30"/>
          </a:solidFill>
          <a:ln w="9525">
            <a:solidFill>
              <a:srgbClr val="223047"/>
            </a:solidFill>
            <a:prstDash val="solid"/>
          </a:ln>
        </p:spPr>
      </p:sp>
      <p:sp>
        <p:nvSpPr>
          <p:cNvPr id="18" name="Text 16"/>
          <p:cNvSpPr txBox="1"/>
          <p:nvPr/>
        </p:nvSpPr>
        <p:spPr>
          <a:xfrm>
            <a:off x="3429000" y="1188720"/>
            <a:ext cx="2743200" cy="182880"/>
          </a:xfrm>
          <a:prstGeom prst="rect">
            <a:avLst/>
          </a:prstGeom>
          <a:noFill/>
          <a:ln/>
        </p:spPr>
        <p:txBody>
          <a:bodyPr wrap="square" lIns="0" tIns="0" rIns="0" bIns="0" rtlCol="0" anchor="t"/>
          <a:lstStyle/>
          <a:p>
            <a:pPr indent="0" marL="0">
              <a:buNone/>
            </a:pPr>
            <a:r>
              <a:rPr lang="en-US" sz="900" b="1" spc="100" kern="0" dirty="0">
                <a:solidFill>
                  <a:srgbClr val="38BDF8"/>
                </a:solidFill>
                <a:latin typeface="Calibri" pitchFamily="34" charset="0"/>
                <a:ea typeface="Calibri" pitchFamily="34" charset="-122"/>
                <a:cs typeface="Calibri" pitchFamily="34" charset="-120"/>
              </a:rPr>
              <a:t>ACT 2</a:t>
            </a:r>
            <a:endParaRPr lang="en-US" sz="900" dirty="0"/>
          </a:p>
        </p:txBody>
      </p:sp>
      <p:sp>
        <p:nvSpPr>
          <p:cNvPr id="19" name="Text 17"/>
          <p:cNvSpPr txBox="1"/>
          <p:nvPr/>
        </p:nvSpPr>
        <p:spPr>
          <a:xfrm>
            <a:off x="3429000" y="1389888"/>
            <a:ext cx="51206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Demo Helper 1.1.0</a:t>
            </a:r>
            <a:pPr indent="0" marL="0">
              <a:buNone/>
            </a:pPr>
            <a:r>
              <a:rPr lang="en-US" sz="1050" dirty="0">
                <a:solidFill>
                  <a:srgbClr val="94A3B8"/>
                </a:solidFill>
                <a:latin typeface="Calibri" pitchFamily="34" charset="0"/>
                <a:ea typeface="Calibri" pitchFamily="34" charset="-122"/>
                <a:cs typeface="Calibri" pitchFamily="34" charset="-120"/>
              </a:rPr>
              <a:t>  — same plugin ID, a genuinely different build</a:t>
            </a:r>
            <a:endParaRPr lang="en-US" sz="1400" dirty="0"/>
          </a:p>
        </p:txBody>
      </p:sp>
      <p:sp>
        <p:nvSpPr>
          <p:cNvPr id="20" name="Text 18"/>
          <p:cNvSpPr txBox="1"/>
          <p:nvPr/>
        </p:nvSpPr>
        <p:spPr>
          <a:xfrm>
            <a:off x="3429000" y="1783080"/>
            <a:ext cx="1600200" cy="384048"/>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Attempt Secret Read</a:t>
            </a:r>
            <a:endParaRPr lang="en-US" sz="1000" dirty="0"/>
          </a:p>
        </p:txBody>
      </p:sp>
      <p:sp>
        <p:nvSpPr>
          <p:cNvPr id="21" name="Text 19"/>
          <p:cNvSpPr txBox="1"/>
          <p:nvPr/>
        </p:nvSpPr>
        <p:spPr>
          <a:xfrm>
            <a:off x="5047488" y="1783080"/>
            <a:ext cx="1371600" cy="384048"/>
          </a:xfrm>
          <a:prstGeom prst="rect">
            <a:avLst/>
          </a:prstGeom>
          <a:noFill/>
          <a:ln/>
        </p:spPr>
        <p:txBody>
          <a:bodyPr wrap="square" lIns="0" tIns="0" rIns="0" bIns="0" rtlCol="0" anchor="ctr"/>
          <a:lstStyle/>
          <a:p>
            <a:pPr indent="0" marL="0">
              <a:buNone/>
            </a:pPr>
            <a:r>
              <a:rPr lang="en-US" sz="850" dirty="0">
                <a:solidFill>
                  <a:srgbClr val="E2E8F0"/>
                </a:solidFill>
                <a:latin typeface="Courier New" pitchFamily="34" charset="0"/>
                <a:ea typeface="Courier New" pitchFamily="34" charset="-122"/>
                <a:cs typeface="Courier New" pitchFamily="34" charset="-120"/>
              </a:rPr>
              <a:t>~/.ssh/id_rsa</a:t>
            </a:r>
            <a:endParaRPr lang="en-US" sz="850" dirty="0"/>
          </a:p>
        </p:txBody>
      </p:sp>
      <p:sp>
        <p:nvSpPr>
          <p:cNvPr id="22" name="Shape 20"/>
          <p:cNvSpPr/>
          <p:nvPr/>
        </p:nvSpPr>
        <p:spPr>
          <a:xfrm>
            <a:off x="6446520" y="1865376"/>
            <a:ext cx="658368" cy="219456"/>
          </a:xfrm>
          <a:prstGeom prst="roundRect">
            <a:avLst>
              <a:gd name="adj" fmla="val 50000"/>
            </a:avLst>
          </a:prstGeom>
          <a:solidFill>
            <a:srgbClr val="EF4444"/>
          </a:solidFill>
          <a:ln w="12700">
            <a:solidFill>
              <a:srgbClr val="EF4444"/>
            </a:solidFill>
            <a:prstDash val="solid"/>
          </a:ln>
        </p:spPr>
      </p:sp>
      <p:sp>
        <p:nvSpPr>
          <p:cNvPr id="23" name="Text 21"/>
          <p:cNvSpPr txBox="1"/>
          <p:nvPr/>
        </p:nvSpPr>
        <p:spPr>
          <a:xfrm>
            <a:off x="6446520" y="1865376"/>
            <a:ext cx="658368"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BLOCKED</a:t>
            </a:r>
            <a:endParaRPr lang="en-US" sz="850" dirty="0"/>
          </a:p>
        </p:txBody>
      </p:sp>
      <p:sp>
        <p:nvSpPr>
          <p:cNvPr id="24" name="Text 22"/>
          <p:cNvSpPr txBox="1"/>
          <p:nvPr/>
        </p:nvSpPr>
        <p:spPr>
          <a:xfrm>
            <a:off x="7178040" y="1783080"/>
            <a:ext cx="14173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CRITICAL 80: credential store +60, new after update +20</a:t>
            </a:r>
            <a:endParaRPr lang="en-US" sz="850" dirty="0"/>
          </a:p>
        </p:txBody>
      </p:sp>
      <p:sp>
        <p:nvSpPr>
          <p:cNvPr id="25" name="Text 23"/>
          <p:cNvSpPr txBox="1"/>
          <p:nvPr/>
        </p:nvSpPr>
        <p:spPr>
          <a:xfrm>
            <a:off x="3429000" y="2203704"/>
            <a:ext cx="1600200" cy="384048"/>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Attempt Network Exfiltration</a:t>
            </a:r>
            <a:endParaRPr lang="en-US" sz="1000" dirty="0"/>
          </a:p>
        </p:txBody>
      </p:sp>
      <p:sp>
        <p:nvSpPr>
          <p:cNvPr id="26" name="Text 24"/>
          <p:cNvSpPr txBox="1"/>
          <p:nvPr/>
        </p:nvSpPr>
        <p:spPr>
          <a:xfrm>
            <a:off x="5047488" y="2203704"/>
            <a:ext cx="1371600" cy="384048"/>
          </a:xfrm>
          <a:prstGeom prst="rect">
            <a:avLst/>
          </a:prstGeom>
          <a:noFill/>
          <a:ln/>
        </p:spPr>
        <p:txBody>
          <a:bodyPr wrap="square" lIns="0" tIns="0" rIns="0" bIns="0" rtlCol="0" anchor="ctr"/>
          <a:lstStyle/>
          <a:p>
            <a:pPr indent="0" marL="0">
              <a:buNone/>
            </a:pPr>
            <a:r>
              <a:rPr lang="en-US" sz="850" dirty="0">
                <a:solidFill>
                  <a:srgbClr val="E2E8F0"/>
                </a:solidFill>
                <a:latin typeface="Courier New" pitchFamily="34" charset="0"/>
                <a:ea typeface="Courier New" pitchFamily="34" charset="-122"/>
                <a:cs typeface="Courier New" pitchFamily="34" charset="-120"/>
              </a:rPr>
              <a:t>198.51.100.42:8080</a:t>
            </a:r>
            <a:endParaRPr lang="en-US" sz="850" dirty="0"/>
          </a:p>
        </p:txBody>
      </p:sp>
      <p:sp>
        <p:nvSpPr>
          <p:cNvPr id="27" name="Shape 25"/>
          <p:cNvSpPr/>
          <p:nvPr/>
        </p:nvSpPr>
        <p:spPr>
          <a:xfrm>
            <a:off x="6446520" y="2286000"/>
            <a:ext cx="658368" cy="219456"/>
          </a:xfrm>
          <a:prstGeom prst="roundRect">
            <a:avLst>
              <a:gd name="adj" fmla="val 50000"/>
            </a:avLst>
          </a:prstGeom>
          <a:solidFill>
            <a:srgbClr val="F59E0B"/>
          </a:solidFill>
          <a:ln w="12700">
            <a:solidFill>
              <a:srgbClr val="F59E0B"/>
            </a:solidFill>
            <a:prstDash val="solid"/>
          </a:ln>
        </p:spPr>
      </p:sp>
      <p:sp>
        <p:nvSpPr>
          <p:cNvPr id="28" name="Text 26"/>
          <p:cNvSpPr txBox="1"/>
          <p:nvPr/>
        </p:nvSpPr>
        <p:spPr>
          <a:xfrm>
            <a:off x="6446520" y="2286000"/>
            <a:ext cx="658368"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ASK</a:t>
            </a:r>
            <a:endParaRPr lang="en-US" sz="850" dirty="0"/>
          </a:p>
        </p:txBody>
      </p:sp>
      <p:sp>
        <p:nvSpPr>
          <p:cNvPr id="29" name="Text 27"/>
          <p:cNvSpPr txBox="1"/>
          <p:nvPr/>
        </p:nvSpPr>
        <p:spPr>
          <a:xfrm>
            <a:off x="7178040" y="2203704"/>
            <a:ext cx="14173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Prevented: new raw-IP host; a notification asks you</a:t>
            </a:r>
            <a:endParaRPr lang="en-US" sz="850" dirty="0"/>
          </a:p>
        </p:txBody>
      </p:sp>
      <p:sp>
        <p:nvSpPr>
          <p:cNvPr id="30" name="Text 28"/>
          <p:cNvSpPr txBox="1"/>
          <p:nvPr/>
        </p:nvSpPr>
        <p:spPr>
          <a:xfrm>
            <a:off x="3429000" y="2624328"/>
            <a:ext cx="1600200" cy="384048"/>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Attempt Process Execution</a:t>
            </a:r>
            <a:endParaRPr lang="en-US" sz="1000" dirty="0"/>
          </a:p>
        </p:txBody>
      </p:sp>
      <p:sp>
        <p:nvSpPr>
          <p:cNvPr id="31" name="Text 29"/>
          <p:cNvSpPr txBox="1"/>
          <p:nvPr/>
        </p:nvSpPr>
        <p:spPr>
          <a:xfrm>
            <a:off x="5047488" y="2624328"/>
            <a:ext cx="1371600" cy="384048"/>
          </a:xfrm>
          <a:prstGeom prst="rect">
            <a:avLst/>
          </a:prstGeom>
          <a:noFill/>
          <a:ln/>
        </p:spPr>
        <p:txBody>
          <a:bodyPr wrap="square" lIns="0" tIns="0" rIns="0" bIns="0" rtlCol="0" anchor="ctr"/>
          <a:lstStyle/>
          <a:p>
            <a:pPr indent="0" marL="0">
              <a:buNone/>
            </a:pPr>
            <a:r>
              <a:rPr lang="en-US" sz="850" dirty="0">
                <a:solidFill>
                  <a:srgbClr val="E2E8F0"/>
                </a:solidFill>
                <a:latin typeface="Courier New" pitchFamily="34" charset="0"/>
                <a:ea typeface="Courier New" pitchFamily="34" charset="-122"/>
                <a:cs typeface="Courier New" pitchFamily="34" charset="-120"/>
              </a:rPr>
              <a:t>java -version</a:t>
            </a:r>
            <a:endParaRPr lang="en-US" sz="850" dirty="0"/>
          </a:p>
        </p:txBody>
      </p:sp>
      <p:sp>
        <p:nvSpPr>
          <p:cNvPr id="32" name="Shape 30"/>
          <p:cNvSpPr/>
          <p:nvPr/>
        </p:nvSpPr>
        <p:spPr>
          <a:xfrm>
            <a:off x="6446520" y="2706624"/>
            <a:ext cx="658368" cy="219456"/>
          </a:xfrm>
          <a:prstGeom prst="roundRect">
            <a:avLst>
              <a:gd name="adj" fmla="val 50000"/>
            </a:avLst>
          </a:prstGeom>
          <a:solidFill>
            <a:srgbClr val="F59E0B"/>
          </a:solidFill>
          <a:ln w="12700">
            <a:solidFill>
              <a:srgbClr val="F59E0B"/>
            </a:solidFill>
            <a:prstDash val="solid"/>
          </a:ln>
        </p:spPr>
      </p:sp>
      <p:sp>
        <p:nvSpPr>
          <p:cNvPr id="33" name="Text 31"/>
          <p:cNvSpPr txBox="1"/>
          <p:nvPr/>
        </p:nvSpPr>
        <p:spPr>
          <a:xfrm>
            <a:off x="6446520" y="2706624"/>
            <a:ext cx="658368"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ASK</a:t>
            </a:r>
            <a:endParaRPr lang="en-US" sz="850" dirty="0"/>
          </a:p>
        </p:txBody>
      </p:sp>
      <p:sp>
        <p:nvSpPr>
          <p:cNvPr id="34" name="Text 32"/>
          <p:cNvSpPr txBox="1"/>
          <p:nvPr/>
        </p:nvSpPr>
        <p:spPr>
          <a:xfrm>
            <a:off x="7178040" y="2624328"/>
            <a:ext cx="14173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Prevented → Allow Once → retry → ALLOWED, recorded</a:t>
            </a:r>
            <a:endParaRPr lang="en-US" sz="850" dirty="0"/>
          </a:p>
        </p:txBody>
      </p:sp>
      <p:sp>
        <p:nvSpPr>
          <p:cNvPr id="35" name="Text 33"/>
          <p:cNvSpPr txBox="1"/>
          <p:nvPr/>
        </p:nvSpPr>
        <p:spPr>
          <a:xfrm>
            <a:off x="3429000" y="3044952"/>
            <a:ext cx="1600200" cy="384048"/>
          </a:xfrm>
          <a:prstGeom prst="rect">
            <a:avLst/>
          </a:prstGeom>
          <a:noFill/>
          <a:ln/>
        </p:spPr>
        <p:txBody>
          <a:bodyPr wrap="square" lIns="0" tIns="0" rIns="0" bIns="0" rtlCol="0" anchor="ctr"/>
          <a:lstStyle/>
          <a:p>
            <a:pPr indent="0" marL="0">
              <a:buNone/>
            </a:pPr>
            <a:r>
              <a:rPr lang="en-US" sz="1000" b="1" dirty="0">
                <a:solidFill>
                  <a:srgbClr val="F1F5F9"/>
                </a:solidFill>
                <a:latin typeface="Calibri" pitchFamily="34" charset="0"/>
                <a:ea typeface="Calibri" pitchFamily="34" charset="-122"/>
                <a:cs typeface="Calibri" pitchFamily="34" charset="-120"/>
              </a:rPr>
              <a:t>Run Attack Sequence</a:t>
            </a:r>
            <a:endParaRPr lang="en-US" sz="1000" dirty="0"/>
          </a:p>
        </p:txBody>
      </p:sp>
      <p:sp>
        <p:nvSpPr>
          <p:cNvPr id="36" name="Text 34"/>
          <p:cNvSpPr txBox="1"/>
          <p:nvPr/>
        </p:nvSpPr>
        <p:spPr>
          <a:xfrm>
            <a:off x="5047488" y="3044952"/>
            <a:ext cx="1371600" cy="384048"/>
          </a:xfrm>
          <a:prstGeom prst="rect">
            <a:avLst/>
          </a:prstGeom>
          <a:noFill/>
          <a:ln/>
        </p:spPr>
        <p:txBody>
          <a:bodyPr wrap="square" lIns="0" tIns="0" rIns="0" bIns="0" rtlCol="0" anchor="ctr"/>
          <a:lstStyle/>
          <a:p>
            <a:pPr indent="0" marL="0">
              <a:buNone/>
            </a:pPr>
            <a:r>
              <a:rPr lang="en-US" sz="850" dirty="0">
                <a:solidFill>
                  <a:srgbClr val="E2E8F0"/>
                </a:solidFill>
                <a:latin typeface="Courier New" pitchFamily="34" charset="0"/>
                <a:ea typeface="Courier New" pitchFamily="34" charset="-122"/>
                <a:cs typeface="Courier New" pitchFamily="34" charset="-120"/>
              </a:rPr>
              <a:t>key read → connect 0.6 s later</a:t>
            </a:r>
            <a:endParaRPr lang="en-US" sz="850" dirty="0"/>
          </a:p>
        </p:txBody>
      </p:sp>
      <p:sp>
        <p:nvSpPr>
          <p:cNvPr id="37" name="Shape 35"/>
          <p:cNvSpPr/>
          <p:nvPr/>
        </p:nvSpPr>
        <p:spPr>
          <a:xfrm>
            <a:off x="6446520" y="3127248"/>
            <a:ext cx="658368" cy="219456"/>
          </a:xfrm>
          <a:prstGeom prst="roundRect">
            <a:avLst>
              <a:gd name="adj" fmla="val 50000"/>
            </a:avLst>
          </a:prstGeom>
          <a:solidFill>
            <a:srgbClr val="EF4444"/>
          </a:solidFill>
          <a:ln w="12700">
            <a:solidFill>
              <a:srgbClr val="EF4444"/>
            </a:solidFill>
            <a:prstDash val="solid"/>
          </a:ln>
        </p:spPr>
      </p:sp>
      <p:sp>
        <p:nvSpPr>
          <p:cNvPr id="38" name="Text 36"/>
          <p:cNvSpPr txBox="1"/>
          <p:nvPr/>
        </p:nvSpPr>
        <p:spPr>
          <a:xfrm>
            <a:off x="6446520" y="3127248"/>
            <a:ext cx="658368" cy="219456"/>
          </a:xfrm>
          <a:prstGeom prst="rect">
            <a:avLst/>
          </a:prstGeom>
          <a:noFill/>
          <a:ln/>
        </p:spPr>
        <p:txBody>
          <a:bodyPr wrap="square" lIns="0" tIns="0" rIns="0" bIns="0" rtlCol="0" anchor="ctr"/>
          <a:lstStyle/>
          <a:p>
            <a:pPr algn="ctr" indent="0" marL="0">
              <a:buNone/>
            </a:pPr>
            <a:r>
              <a:rPr lang="en-US" sz="850" b="1" dirty="0">
                <a:solidFill>
                  <a:srgbClr val="0B1220"/>
                </a:solidFill>
                <a:latin typeface="Calibri" pitchFamily="34" charset="0"/>
                <a:ea typeface="Calibri" pitchFamily="34" charset="-122"/>
                <a:cs typeface="Calibri" pitchFamily="34" charset="-120"/>
              </a:rPr>
              <a:t>BLOCKED</a:t>
            </a:r>
            <a:endParaRPr lang="en-US" sz="850" dirty="0"/>
          </a:p>
        </p:txBody>
      </p:sp>
      <p:sp>
        <p:nvSpPr>
          <p:cNvPr id="39" name="Text 37"/>
          <p:cNvSpPr txBox="1"/>
          <p:nvPr/>
        </p:nvSpPr>
        <p:spPr>
          <a:xfrm>
            <a:off x="7178040" y="3044952"/>
            <a:ext cx="14173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CRITICAL 100: correlated exfiltration, attack chain shown</a:t>
            </a:r>
            <a:endParaRPr lang="en-US" sz="850" dirty="0"/>
          </a:p>
        </p:txBody>
      </p:sp>
      <p:sp>
        <p:nvSpPr>
          <p:cNvPr id="40" name="Shape 38"/>
          <p:cNvSpPr/>
          <p:nvPr/>
        </p:nvSpPr>
        <p:spPr>
          <a:xfrm>
            <a:off x="457200" y="3657600"/>
            <a:ext cx="8229600" cy="566928"/>
          </a:xfrm>
          <a:prstGeom prst="roundRect">
            <a:avLst>
              <a:gd name="adj" fmla="val 12903"/>
            </a:avLst>
          </a:prstGeom>
          <a:solidFill>
            <a:srgbClr val="1C1424"/>
          </a:solidFill>
          <a:ln w="9525">
            <a:solidFill>
              <a:srgbClr val="4A1D2B"/>
            </a:solidFill>
            <a:prstDash val="solid"/>
          </a:ln>
        </p:spPr>
      </p:sp>
      <p:sp>
        <p:nvSpPr>
          <p:cNvPr id="41" name="Shape 39"/>
          <p:cNvSpPr/>
          <p:nvPr/>
        </p:nvSpPr>
        <p:spPr>
          <a:xfrm>
            <a:off x="566928" y="3749040"/>
            <a:ext cx="384048" cy="384048"/>
          </a:xfrm>
          <a:prstGeom prst="ellipse">
            <a:avLst/>
          </a:prstGeom>
          <a:solidFill>
            <a:srgbClr val="3F1520"/>
          </a:solidFill>
          <a:ln w="12700">
            <a:solidFill>
              <a:srgbClr val="3F1520"/>
            </a:solidFill>
            <a:prstDash val="solid"/>
          </a:ln>
        </p:spPr>
      </p:sp>
      <p:pic>
        <p:nvPicPr>
          <p:cNvPr id="42" name="Image 0" descr="preencoded.png">    </p:cNvPr>
          <p:cNvPicPr>
            <a:picLocks noChangeAspect="1"/>
          </p:cNvPicPr>
          <p:nvPr/>
        </p:nvPicPr>
        <p:blipFill>
          <a:blip r:embed="rId1"/>
          <a:stretch>
            <a:fillRect/>
          </a:stretch>
        </p:blipFill>
        <p:spPr>
          <a:xfrm>
            <a:off x="662940" y="3845052"/>
            <a:ext cx="192024" cy="192024"/>
          </a:xfrm>
          <a:prstGeom prst="rect">
            <a:avLst/>
          </a:prstGeom>
        </p:spPr>
      </p:pic>
      <p:sp>
        <p:nvSpPr>
          <p:cNvPr id="43" name="Text 40"/>
          <p:cNvSpPr txBox="1"/>
          <p:nvPr/>
        </p:nvSpPr>
        <p:spPr>
          <a:xfrm>
            <a:off x="1097280" y="3694176"/>
            <a:ext cx="749808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Drift tab: 1.0.0 → 1.1.0  ·  HIGH-RISK BEHAVIOR CHANGE  ·  risk 100 / CRITICAL</a:t>
            </a:r>
            <a:endParaRPr lang="en-US" sz="1150" dirty="0"/>
          </a:p>
          <a:p>
            <a:pPr indent="0" marL="0">
              <a:buNone/>
            </a:pPr>
            <a:r>
              <a:rPr lang="en-US" sz="1050" dirty="0">
                <a:solidFill>
                  <a:srgbClr val="94A3B8"/>
                </a:solidFill>
                <a:latin typeface="Calibri" pitchFamily="34" charset="0"/>
                <a:ea typeface="Calibri" pitchFamily="34" charset="-122"/>
                <a:cs typeface="Calibri" pitchFamily="34" charset="-120"/>
              </a:rPr>
              <a:t>3 new capabilities: sensitive files (ssh)  ·  network 198.51.100.42  ·  system commands (java)</a:t>
            </a:r>
            <a:endParaRPr lang="en-US" sz="1150" dirty="0"/>
          </a:p>
        </p:txBody>
      </p:sp>
      <p:sp>
        <p:nvSpPr>
          <p:cNvPr id="44" name="Text 41"/>
          <p:cNvSpPr txBox="1"/>
          <p:nvPr/>
        </p:nvSpPr>
        <p:spPr>
          <a:xfrm>
            <a:off x="457200" y="4343400"/>
            <a:ext cx="8229600" cy="41148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Everything is fake: the “key” is a text file in demo-fixtures, 198.51.100.42 is a non-routable documentation address, the process is the IDE’s own java -version. The same flow runs unattended in scripts/smoke-test.</a:t>
            </a:r>
            <a:endParaRPr lang="en-US" sz="950" dirty="0"/>
          </a:p>
        </p:txBody>
      </p:sp>
      <p:sp>
        <p:nvSpPr>
          <p:cNvPr id="45" name="Text 42"/>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Real engineering, honest limits</a:t>
            </a:r>
            <a:endParaRPr lang="en-US" sz="2800" dirty="0"/>
          </a:p>
        </p:txBody>
      </p:sp>
      <p:sp>
        <p:nvSpPr>
          <p:cNvPr id="3" name="Text 1"/>
          <p:cNvSpPr txBox="1"/>
          <p:nvPr/>
        </p:nvSpPr>
        <p:spPr>
          <a:xfrm>
            <a:off x="457200" y="841248"/>
            <a:ext cx="8229600" cy="3657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A working proof of concept with tests, CI, a documented threat model and a roadmap.</a:t>
            </a:r>
            <a:endParaRPr lang="en-US" sz="1300" dirty="0"/>
          </a:p>
        </p:txBody>
      </p:sp>
      <p:sp>
        <p:nvSpPr>
          <p:cNvPr id="4" name="Shape 2"/>
          <p:cNvSpPr/>
          <p:nvPr/>
        </p:nvSpPr>
        <p:spPr>
          <a:xfrm>
            <a:off x="457200" y="1325880"/>
            <a:ext cx="2606040" cy="3383280"/>
          </a:xfrm>
          <a:prstGeom prst="roundRect">
            <a:avLst>
              <a:gd name="adj" fmla="val 2807"/>
            </a:avLst>
          </a:prstGeom>
          <a:solidFill>
            <a:srgbClr val="151E30"/>
          </a:solidFill>
          <a:ln w="9525">
            <a:solidFill>
              <a:srgbClr val="223047"/>
            </a:solidFill>
            <a:prstDash val="solid"/>
          </a:ln>
        </p:spPr>
      </p:sp>
      <p:sp>
        <p:nvSpPr>
          <p:cNvPr id="5" name="Shape 3"/>
          <p:cNvSpPr/>
          <p:nvPr/>
        </p:nvSpPr>
        <p:spPr>
          <a:xfrm>
            <a:off x="621792" y="1490472"/>
            <a:ext cx="384048" cy="384048"/>
          </a:xfrm>
          <a:prstGeom prst="ellipse">
            <a:avLst/>
          </a:prstGeom>
          <a:solidFill>
            <a:srgbClr val="123B2A"/>
          </a:solidFill>
          <a:ln w="12700">
            <a:solidFill>
              <a:srgbClr val="123B2A"/>
            </a:solidFill>
            <a:prstDash val="solid"/>
          </a:ln>
        </p:spPr>
      </p:sp>
      <p:pic>
        <p:nvPicPr>
          <p:cNvPr id="6" name="Image 0" descr="preencoded.png">    </p:cNvPr>
          <p:cNvPicPr>
            <a:picLocks noChangeAspect="1"/>
          </p:cNvPicPr>
          <p:nvPr/>
        </p:nvPicPr>
        <p:blipFill>
          <a:blip r:embed="rId1"/>
          <a:stretch>
            <a:fillRect/>
          </a:stretch>
        </p:blipFill>
        <p:spPr>
          <a:xfrm>
            <a:off x="717804" y="1586484"/>
            <a:ext cx="192024" cy="192024"/>
          </a:xfrm>
          <a:prstGeom prst="rect">
            <a:avLst/>
          </a:prstGeom>
        </p:spPr>
      </p:pic>
      <p:sp>
        <p:nvSpPr>
          <p:cNvPr id="7" name="Text 4"/>
          <p:cNvSpPr txBox="1"/>
          <p:nvPr/>
        </p:nvSpPr>
        <p:spPr>
          <a:xfrm>
            <a:off x="1115568" y="1490472"/>
            <a:ext cx="182880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Shipped</a:t>
            </a:r>
            <a:endParaRPr lang="en-US" sz="1500" dirty="0"/>
          </a:p>
        </p:txBody>
      </p:sp>
      <p:sp>
        <p:nvSpPr>
          <p:cNvPr id="8" name="Text 5"/>
          <p:cNvSpPr txBox="1"/>
          <p:nvPr/>
        </p:nvSpPr>
        <p:spPr>
          <a:xfrm>
            <a:off x="621792" y="2039112"/>
            <a:ext cx="2276856" cy="256032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122 interception rules across JDK, Kotlin and IntelliJ APIs</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6 capabilities × ALLOW / ASK / BLOCK per plugin, applied instantly and persisted</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JUnit 5 unit tests + agent integration tests in a forked JVM with the real ‑javaagent</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GitHub Actions CI; IntelliJ Plugin Verifier: Compatible, no deprecated or internal API</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Privacy: secret values are never read or logged; nothing leaves the machine unless the opt-in analyst is on — then only redacted metadata, or nothing at all with a local model</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AI security analyst: tool-calling agent over OpenAI / Groq / local models, read-only tools (incident, baseline, drift, the plugin's real plugin.xml, policy), structured verdicts, one-click Apply. Falls back to a backup model and then to PluginFence's own rules, so it has no failure state · MIT licensed</a:t>
            </a:r>
            <a:endParaRPr lang="en-US" sz="1050" dirty="0"/>
          </a:p>
        </p:txBody>
      </p:sp>
      <p:sp>
        <p:nvSpPr>
          <p:cNvPr id="9" name="Shape 6"/>
          <p:cNvSpPr/>
          <p:nvPr/>
        </p:nvSpPr>
        <p:spPr>
          <a:xfrm>
            <a:off x="3268980" y="1325880"/>
            <a:ext cx="2606040" cy="3383280"/>
          </a:xfrm>
          <a:prstGeom prst="roundRect">
            <a:avLst>
              <a:gd name="adj" fmla="val 2807"/>
            </a:avLst>
          </a:prstGeom>
          <a:solidFill>
            <a:srgbClr val="151E30"/>
          </a:solidFill>
          <a:ln w="9525">
            <a:solidFill>
              <a:srgbClr val="223047"/>
            </a:solidFill>
            <a:prstDash val="solid"/>
          </a:ln>
        </p:spPr>
      </p:sp>
      <p:sp>
        <p:nvSpPr>
          <p:cNvPr id="10" name="Shape 7"/>
          <p:cNvSpPr/>
          <p:nvPr/>
        </p:nvSpPr>
        <p:spPr>
          <a:xfrm>
            <a:off x="3433572" y="1490472"/>
            <a:ext cx="384048" cy="384048"/>
          </a:xfrm>
          <a:prstGeom prst="ellipse">
            <a:avLst/>
          </a:prstGeom>
          <a:solidFill>
            <a:srgbClr val="3D2A0F"/>
          </a:solidFill>
          <a:ln w="12700">
            <a:solidFill>
              <a:srgbClr val="3D2A0F"/>
            </a:solidFill>
            <a:prstDash val="solid"/>
          </a:ln>
        </p:spPr>
      </p:sp>
      <p:pic>
        <p:nvPicPr>
          <p:cNvPr id="11" name="Image 1" descr="preencoded.png">    </p:cNvPr>
          <p:cNvPicPr>
            <a:picLocks noChangeAspect="1"/>
          </p:cNvPicPr>
          <p:nvPr/>
        </p:nvPicPr>
        <p:blipFill>
          <a:blip r:embed="rId2"/>
          <a:stretch>
            <a:fillRect/>
          </a:stretch>
        </p:blipFill>
        <p:spPr>
          <a:xfrm>
            <a:off x="3529584" y="1586484"/>
            <a:ext cx="192024" cy="192024"/>
          </a:xfrm>
          <a:prstGeom prst="rect">
            <a:avLst/>
          </a:prstGeom>
        </p:spPr>
      </p:pic>
      <p:sp>
        <p:nvSpPr>
          <p:cNvPr id="12" name="Text 8"/>
          <p:cNvSpPr txBox="1"/>
          <p:nvPr/>
        </p:nvSpPr>
        <p:spPr>
          <a:xfrm>
            <a:off x="3927348" y="1490472"/>
            <a:ext cx="182880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 a sandbox</a:t>
            </a:r>
            <a:endParaRPr lang="en-US" sz="1500" dirty="0"/>
          </a:p>
        </p:txBody>
      </p:sp>
      <p:sp>
        <p:nvSpPr>
          <p:cNvPr id="13" name="Text 9"/>
          <p:cNvSpPr txBox="1"/>
          <p:nvPr/>
        </p:nvSpPr>
        <p:spPr>
          <a:xfrm>
            <a:off x="3433572" y="2039112"/>
            <a:ext cx="2276856" cy="256032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Rewrites a documented list of call sites — it is policy enforcement, not process isolation</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Out of scope: JNI / native code, sun.misc.Unsafe, reflection into JDK internals, MethodHandle tricks</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APIs outside the rule table (e.g. memory-mapped files), tampering with the agent or VM options, exploits below the JVM</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Trust is inferred only from class-loader evidence, never from package names</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Full write-up in docs/THREAT_MODEL.md</a:t>
            </a:r>
            <a:endParaRPr lang="en-US" sz="1050" dirty="0"/>
          </a:p>
        </p:txBody>
      </p:sp>
      <p:sp>
        <p:nvSpPr>
          <p:cNvPr id="14" name="Shape 10"/>
          <p:cNvSpPr/>
          <p:nvPr/>
        </p:nvSpPr>
        <p:spPr>
          <a:xfrm>
            <a:off x="6080760" y="1325880"/>
            <a:ext cx="2606040" cy="3383280"/>
          </a:xfrm>
          <a:prstGeom prst="roundRect">
            <a:avLst>
              <a:gd name="adj" fmla="val 2807"/>
            </a:avLst>
          </a:prstGeom>
          <a:solidFill>
            <a:srgbClr val="151E30"/>
          </a:solidFill>
          <a:ln w="9525">
            <a:solidFill>
              <a:srgbClr val="223047"/>
            </a:solidFill>
            <a:prstDash val="solid"/>
          </a:ln>
        </p:spPr>
      </p:sp>
      <p:sp>
        <p:nvSpPr>
          <p:cNvPr id="15" name="Shape 11"/>
          <p:cNvSpPr/>
          <p:nvPr/>
        </p:nvSpPr>
        <p:spPr>
          <a:xfrm>
            <a:off x="6245352" y="1490472"/>
            <a:ext cx="384048" cy="384048"/>
          </a:xfrm>
          <a:prstGeom prst="ellipse">
            <a:avLst/>
          </a:prstGeom>
          <a:solidFill>
            <a:srgbClr val="123A52"/>
          </a:solidFill>
          <a:ln w="12700">
            <a:solidFill>
              <a:srgbClr val="123A52"/>
            </a:solidFill>
            <a:prstDash val="solid"/>
          </a:ln>
        </p:spPr>
      </p:sp>
      <p:pic>
        <p:nvPicPr>
          <p:cNvPr id="16" name="Image 2" descr="preencoded.png">    </p:cNvPr>
          <p:cNvPicPr>
            <a:picLocks noChangeAspect="1"/>
          </p:cNvPicPr>
          <p:nvPr/>
        </p:nvPicPr>
        <p:blipFill>
          <a:blip r:embed="rId3"/>
          <a:stretch>
            <a:fillRect/>
          </a:stretch>
        </p:blipFill>
        <p:spPr>
          <a:xfrm>
            <a:off x="6341364" y="1586484"/>
            <a:ext cx="192024" cy="192024"/>
          </a:xfrm>
          <a:prstGeom prst="rect">
            <a:avLst/>
          </a:prstGeom>
        </p:spPr>
      </p:pic>
      <p:sp>
        <p:nvSpPr>
          <p:cNvPr id="17" name="Text 12"/>
          <p:cNvSpPr txBox="1"/>
          <p:nvPr/>
        </p:nvSpPr>
        <p:spPr>
          <a:xfrm>
            <a:off x="6739128" y="1490472"/>
            <a:ext cx="182880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a:t>
            </a:r>
            <a:endParaRPr lang="en-US" sz="1500" dirty="0"/>
          </a:p>
        </p:txBody>
      </p:sp>
      <p:sp>
        <p:nvSpPr>
          <p:cNvPr id="18" name="Text 13"/>
          <p:cNvSpPr txBox="1"/>
          <p:nvPr/>
        </p:nvSpPr>
        <p:spPr>
          <a:xfrm>
            <a:off x="6245352" y="2039112"/>
            <a:ext cx="2276856" cy="256032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Configuration UI for sensitive-path and secret-variable rules</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Analyst memory across sessions and a Koog-based agent; searchable cross-session timeline</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Organisation-wide signed policy packs</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OS-level companions (eBPF / Endpoint Security / ETW) for native and out-of-process activity</a:t>
            </a:r>
            <a:endParaRPr lang="en-US" sz="1050" dirty="0"/>
          </a:p>
          <a:p>
            <a:pPr marL="127000" indent="-127000">
              <a:spcAft>
                <a:spcPts val="400"/>
              </a:spcAft>
              <a:buSzPct val="100000"/>
              <a:buChar char="•"/>
            </a:pPr>
            <a:r>
              <a:rPr lang="en-US" sz="1050" dirty="0">
                <a:solidFill>
                  <a:srgbClr val="F1F5F9"/>
                </a:solidFill>
                <a:latin typeface="Calibri" pitchFamily="34" charset="0"/>
                <a:ea typeface="Calibri" pitchFamily="34" charset="-122"/>
                <a:cs typeface="Calibri" pitchFamily="34" charset="-120"/>
              </a:rPr>
              <a:t>Marketplace metadata correlation: vendor, release cadence, permission drift across releases</a:t>
            </a:r>
            <a:endParaRPr lang="en-US" sz="1050" dirty="0"/>
          </a:p>
        </p:txBody>
      </p:sp>
      <p:sp>
        <p:nvSpPr>
          <p:cNvPr id="19" name="Text 14"/>
          <p:cNvSpPr txBox="1"/>
          <p:nvPr/>
        </p:nvSpPr>
        <p:spPr>
          <a:xfrm>
            <a:off x="8321040" y="4850892"/>
            <a:ext cx="365760" cy="201168"/>
          </a:xfrm>
          <a:prstGeom prst="rect">
            <a:avLst/>
          </a:prstGeom>
          <a:noFill/>
          <a:ln/>
        </p:spPr>
        <p:txBody>
          <a:bodyPr wrap="square" lIns="0" tIns="0" rIns="0" bIns="0" rtlCol="0" anchor="t"/>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2000"/>
          </a:blip>
          <a:stretch>
            <a:fillRect/>
          </a:stretch>
        </p:blipFill>
        <p:spPr>
          <a:xfrm>
            <a:off x="5852160" y="685800"/>
            <a:ext cx="3017520" cy="3017520"/>
          </a:xfrm>
          <a:prstGeom prst="rect">
            <a:avLst/>
          </a:prstGeom>
        </p:spPr>
      </p:pic>
      <p:sp>
        <p:nvSpPr>
          <p:cNvPr id="3" name="Text 0"/>
          <p:cNvSpPr txBox="1"/>
          <p:nvPr/>
        </p:nvSpPr>
        <p:spPr>
          <a:xfrm>
            <a:off x="548640" y="411480"/>
            <a:ext cx="4572000" cy="365760"/>
          </a:xfrm>
          <a:prstGeom prst="rect">
            <a:avLst/>
          </a:prstGeom>
          <a:noFill/>
          <a:ln/>
        </p:spPr>
        <p:txBody>
          <a:bodyPr wrap="square" lIns="0" tIns="0" rIns="0" bIns="0" rtlCol="0" anchor="t"/>
          <a:lstStyle/>
          <a:p>
            <a:pPr indent="0" marL="0">
              <a:buNone/>
            </a:pPr>
            <a:r>
              <a:rPr lang="en-US" sz="1600" b="1" spc="400" kern="0" dirty="0">
                <a:solidFill>
                  <a:srgbClr val="94A3B8"/>
                </a:solidFill>
                <a:latin typeface="Calibri" pitchFamily="34" charset="0"/>
                <a:ea typeface="Calibri" pitchFamily="34" charset="-122"/>
                <a:cs typeface="Calibri" pitchFamily="34" charset="-120"/>
              </a:rPr>
              <a:t>PLUGINFENCE</a:t>
            </a:r>
            <a:endParaRPr lang="en-US" sz="1600" dirty="0"/>
          </a:p>
        </p:txBody>
      </p:sp>
      <p:sp>
        <p:nvSpPr>
          <p:cNvPr id="4" name="Text 1"/>
          <p:cNvSpPr txBox="1"/>
          <p:nvPr/>
        </p:nvSpPr>
        <p:spPr>
          <a:xfrm>
            <a:off x="548640" y="1234440"/>
            <a:ext cx="6858000" cy="11887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Don’t guess what a plugin might do.</a:t>
            </a:r>
            <a:endParaRPr lang="en-US" sz="3000" dirty="0"/>
          </a:p>
          <a:p>
            <a:pPr indent="0" marL="0">
              <a:buNone/>
            </a:pPr>
            <a:r>
              <a:rPr lang="en-US" sz="3000" b="1" dirty="0">
                <a:solidFill>
                  <a:srgbClr val="38BDF8"/>
                </a:solidFill>
                <a:latin typeface="Calibri" pitchFamily="34" charset="0"/>
                <a:ea typeface="Calibri" pitchFamily="34" charset="-122"/>
                <a:cs typeface="Calibri" pitchFamily="34" charset="-120"/>
              </a:rPr>
              <a:t>Watch what it does — and stop it.</a:t>
            </a:r>
            <a:endParaRPr lang="en-US" sz="3000" dirty="0"/>
          </a:p>
        </p:txBody>
      </p:sp>
      <p:sp>
        <p:nvSpPr>
          <p:cNvPr id="5" name="Shape 2"/>
          <p:cNvSpPr/>
          <p:nvPr/>
        </p:nvSpPr>
        <p:spPr>
          <a:xfrm>
            <a:off x="548640" y="2651760"/>
            <a:ext cx="914400" cy="384048"/>
          </a:xfrm>
          <a:prstGeom prst="roundRect">
            <a:avLst>
              <a:gd name="adj" fmla="val 14286"/>
            </a:avLst>
          </a:prstGeom>
          <a:solidFill>
            <a:srgbClr val="151E30"/>
          </a:solidFill>
          <a:ln w="9525">
            <a:solidFill>
              <a:srgbClr val="223047"/>
            </a:solidFill>
            <a:prstDash val="solid"/>
          </a:ln>
        </p:spPr>
      </p:sp>
      <p:sp>
        <p:nvSpPr>
          <p:cNvPr id="6" name="Text 3"/>
          <p:cNvSpPr txBox="1"/>
          <p:nvPr/>
        </p:nvSpPr>
        <p:spPr>
          <a:xfrm>
            <a:off x="548640" y="2651760"/>
            <a:ext cx="914400" cy="384048"/>
          </a:xfrm>
          <a:prstGeom prst="rect">
            <a:avLst/>
          </a:prstGeom>
          <a:noFill/>
          <a:ln/>
        </p:spPr>
        <p:txBody>
          <a:bodyPr wrap="square" lIns="0" tIns="0" rIns="0" bIns="0"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Plugin</a:t>
            </a:r>
            <a:endParaRPr lang="en-US" sz="1100" dirty="0"/>
          </a:p>
        </p:txBody>
      </p:sp>
      <p:sp>
        <p:nvSpPr>
          <p:cNvPr id="7" name="Text 4"/>
          <p:cNvSpPr txBox="1"/>
          <p:nvPr/>
        </p:nvSpPr>
        <p:spPr>
          <a:xfrm>
            <a:off x="1508760" y="265176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8" name="Shape 5"/>
          <p:cNvSpPr/>
          <p:nvPr/>
        </p:nvSpPr>
        <p:spPr>
          <a:xfrm>
            <a:off x="1828800" y="2651760"/>
            <a:ext cx="1417320" cy="384048"/>
          </a:xfrm>
          <a:prstGeom prst="roundRect">
            <a:avLst>
              <a:gd name="adj" fmla="val 14286"/>
            </a:avLst>
          </a:prstGeom>
          <a:solidFill>
            <a:srgbClr val="123A52"/>
          </a:solidFill>
          <a:ln w="9525">
            <a:solidFill>
              <a:srgbClr val="38BDF8"/>
            </a:solidFill>
            <a:prstDash val="solid"/>
          </a:ln>
        </p:spPr>
      </p:sp>
      <p:sp>
        <p:nvSpPr>
          <p:cNvPr id="9" name="Text 6"/>
          <p:cNvSpPr txBox="1"/>
          <p:nvPr/>
        </p:nvSpPr>
        <p:spPr>
          <a:xfrm>
            <a:off x="1828800" y="2651760"/>
            <a:ext cx="1417320" cy="384048"/>
          </a:xfrm>
          <a:prstGeom prst="rect">
            <a:avLst/>
          </a:prstGeom>
          <a:noFill/>
          <a:ln/>
        </p:spPr>
        <p:txBody>
          <a:bodyPr wrap="square" lIns="0" tIns="0" rIns="0" bIns="0" rtlCol="0" anchor="ctr"/>
          <a:lstStyle/>
          <a:p>
            <a:pPr algn="ctr" indent="0" marL="0">
              <a:buNone/>
            </a:pPr>
            <a:r>
              <a:rPr lang="en-US" sz="1100" b="1" dirty="0">
                <a:solidFill>
                  <a:srgbClr val="38BDF8"/>
                </a:solidFill>
                <a:latin typeface="Calibri" pitchFamily="34" charset="0"/>
                <a:ea typeface="Calibri" pitchFamily="34" charset="-122"/>
                <a:cs typeface="Calibri" pitchFamily="34" charset="-120"/>
              </a:rPr>
              <a:t>PLUGINFENCE</a:t>
            </a:r>
            <a:endParaRPr lang="en-US" sz="1100" dirty="0"/>
          </a:p>
        </p:txBody>
      </p:sp>
      <p:sp>
        <p:nvSpPr>
          <p:cNvPr id="10" name="Text 7"/>
          <p:cNvSpPr txBox="1"/>
          <p:nvPr/>
        </p:nvSpPr>
        <p:spPr>
          <a:xfrm>
            <a:off x="3291840" y="265176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3611880" y="2651760"/>
            <a:ext cx="1234440" cy="384048"/>
          </a:xfrm>
          <a:prstGeom prst="roundRect">
            <a:avLst>
              <a:gd name="adj" fmla="val 14286"/>
            </a:avLst>
          </a:prstGeom>
          <a:solidFill>
            <a:srgbClr val="151E30"/>
          </a:solidFill>
          <a:ln w="9525">
            <a:solidFill>
              <a:srgbClr val="223047"/>
            </a:solidFill>
            <a:prstDash val="solid"/>
          </a:ln>
        </p:spPr>
      </p:sp>
      <p:sp>
        <p:nvSpPr>
          <p:cNvPr id="12" name="Text 9"/>
          <p:cNvSpPr txBox="1"/>
          <p:nvPr/>
        </p:nvSpPr>
        <p:spPr>
          <a:xfrm>
            <a:off x="3611880" y="2651760"/>
            <a:ext cx="1234440" cy="384048"/>
          </a:xfrm>
          <a:prstGeom prst="rect">
            <a:avLst/>
          </a:prstGeom>
          <a:noFill/>
          <a:ln/>
        </p:spPr>
        <p:txBody>
          <a:bodyPr wrap="square" lIns="0" tIns="0" rIns="0" bIns="0"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Policy engine</a:t>
            </a:r>
            <a:endParaRPr lang="en-US" sz="1100" dirty="0"/>
          </a:p>
        </p:txBody>
      </p:sp>
      <p:sp>
        <p:nvSpPr>
          <p:cNvPr id="13" name="Text 10"/>
          <p:cNvSpPr txBox="1"/>
          <p:nvPr/>
        </p:nvSpPr>
        <p:spPr>
          <a:xfrm>
            <a:off x="4892040" y="2651760"/>
            <a:ext cx="274320" cy="384048"/>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5212080" y="2715768"/>
            <a:ext cx="731520" cy="256032"/>
          </a:xfrm>
          <a:prstGeom prst="roundRect">
            <a:avLst>
              <a:gd name="adj" fmla="val 50000"/>
            </a:avLst>
          </a:prstGeom>
          <a:solidFill>
            <a:srgbClr val="22C55E"/>
          </a:solidFill>
          <a:ln w="12700">
            <a:solidFill>
              <a:srgbClr val="22C55E"/>
            </a:solidFill>
            <a:prstDash val="solid"/>
          </a:ln>
        </p:spPr>
      </p:sp>
      <p:sp>
        <p:nvSpPr>
          <p:cNvPr id="15" name="Text 12"/>
          <p:cNvSpPr txBox="1"/>
          <p:nvPr/>
        </p:nvSpPr>
        <p:spPr>
          <a:xfrm>
            <a:off x="5212080" y="2715768"/>
            <a:ext cx="73152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ALLOW</a:t>
            </a:r>
            <a:endParaRPr lang="en-US" sz="1000" dirty="0"/>
          </a:p>
        </p:txBody>
      </p:sp>
      <p:sp>
        <p:nvSpPr>
          <p:cNvPr id="16" name="Shape 13"/>
          <p:cNvSpPr/>
          <p:nvPr/>
        </p:nvSpPr>
        <p:spPr>
          <a:xfrm>
            <a:off x="6007608" y="2715768"/>
            <a:ext cx="594360" cy="256032"/>
          </a:xfrm>
          <a:prstGeom prst="roundRect">
            <a:avLst>
              <a:gd name="adj" fmla="val 50000"/>
            </a:avLst>
          </a:prstGeom>
          <a:solidFill>
            <a:srgbClr val="F59E0B"/>
          </a:solidFill>
          <a:ln w="12700">
            <a:solidFill>
              <a:srgbClr val="F59E0B"/>
            </a:solidFill>
            <a:prstDash val="solid"/>
          </a:ln>
        </p:spPr>
      </p:sp>
      <p:sp>
        <p:nvSpPr>
          <p:cNvPr id="17" name="Text 14"/>
          <p:cNvSpPr txBox="1"/>
          <p:nvPr/>
        </p:nvSpPr>
        <p:spPr>
          <a:xfrm>
            <a:off x="6007608" y="2715768"/>
            <a:ext cx="59436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ASK</a:t>
            </a:r>
            <a:endParaRPr lang="en-US" sz="1000" dirty="0"/>
          </a:p>
        </p:txBody>
      </p:sp>
      <p:sp>
        <p:nvSpPr>
          <p:cNvPr id="18" name="Shape 15"/>
          <p:cNvSpPr/>
          <p:nvPr/>
        </p:nvSpPr>
        <p:spPr>
          <a:xfrm>
            <a:off x="6665976" y="2715768"/>
            <a:ext cx="777240" cy="256032"/>
          </a:xfrm>
          <a:prstGeom prst="roundRect">
            <a:avLst>
              <a:gd name="adj" fmla="val 50000"/>
            </a:avLst>
          </a:prstGeom>
          <a:solidFill>
            <a:srgbClr val="EF4444"/>
          </a:solidFill>
          <a:ln w="12700">
            <a:solidFill>
              <a:srgbClr val="EF4444"/>
            </a:solidFill>
            <a:prstDash val="solid"/>
          </a:ln>
        </p:spPr>
      </p:sp>
      <p:sp>
        <p:nvSpPr>
          <p:cNvPr id="19" name="Text 16"/>
          <p:cNvSpPr txBox="1"/>
          <p:nvPr/>
        </p:nvSpPr>
        <p:spPr>
          <a:xfrm>
            <a:off x="6665976" y="2715768"/>
            <a:ext cx="77724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BLOCK</a:t>
            </a:r>
            <a:endParaRPr lang="en-US" sz="1000" dirty="0"/>
          </a:p>
        </p:txBody>
      </p:sp>
      <p:sp>
        <p:nvSpPr>
          <p:cNvPr id="20" name="Shape 17"/>
          <p:cNvSpPr/>
          <p:nvPr/>
        </p:nvSpPr>
        <p:spPr>
          <a:xfrm>
            <a:off x="548640" y="3291840"/>
            <a:ext cx="5852160" cy="640080"/>
          </a:xfrm>
          <a:prstGeom prst="roundRect">
            <a:avLst>
              <a:gd name="adj" fmla="val 8571"/>
            </a:avLst>
          </a:prstGeom>
          <a:solidFill>
            <a:srgbClr val="0A1020"/>
          </a:solidFill>
          <a:ln w="9525">
            <a:solidFill>
              <a:srgbClr val="223047"/>
            </a:solidFill>
            <a:prstDash val="solid"/>
          </a:ln>
        </p:spPr>
      </p:sp>
      <p:sp>
        <p:nvSpPr>
          <p:cNvPr id="21" name="Text 18"/>
          <p:cNvSpPr txBox="1"/>
          <p:nvPr/>
        </p:nvSpPr>
        <p:spPr>
          <a:xfrm>
            <a:off x="685800" y="3383280"/>
            <a:ext cx="5577840" cy="457200"/>
          </a:xfrm>
          <a:prstGeom prst="rect">
            <a:avLst/>
          </a:prstGeom>
          <a:noFill/>
          <a:ln/>
        </p:spPr>
        <p:txBody>
          <a:bodyPr wrap="square" lIns="0" tIns="0" rIns="0" bIns="0" rtlCol="0" anchor="ctr"/>
          <a:lstStyle/>
          <a:p>
            <a:pPr indent="0" marL="0">
              <a:buNone/>
            </a:pPr>
            <a:r>
              <a:rPr lang="en-US" sz="1050" dirty="0">
                <a:solidFill>
                  <a:srgbClr val="E2E8F0"/>
                </a:solidFill>
                <a:latin typeface="Courier New" pitchFamily="34" charset="0"/>
                <a:ea typeface="Courier New" pitchFamily="34" charset="-122"/>
                <a:cs typeface="Courier New" pitchFamily="34" charset="-120"/>
              </a:rPr>
              <a:t>./gradlew runFenceIde          </a:t>
            </a:r>
            <a:pPr indent="0" marL="0">
              <a:buNone/>
            </a:pPr>
            <a:r>
              <a:rPr lang="en-US" sz="1050" dirty="0">
                <a:solidFill>
                  <a:srgbClr val="64748B"/>
                </a:solidFill>
                <a:latin typeface="Courier New" pitchFamily="34" charset="0"/>
                <a:ea typeface="Courier New" pitchFamily="34" charset="-122"/>
                <a:cs typeface="Courier New" pitchFamily="34" charset="-120"/>
              </a:rPr>
              <a:t># baseline: Demo Helper 1.0.0</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./gradlew runFenceIdeUpdated   </a:t>
            </a:r>
            <a:pPr indent="0" marL="0">
              <a:buNone/>
            </a:pPr>
            <a:r>
              <a:rPr lang="en-US" sz="1050" dirty="0">
                <a:solidFill>
                  <a:srgbClr val="64748B"/>
                </a:solidFill>
                <a:latin typeface="Courier New" pitchFamily="34" charset="0"/>
                <a:ea typeface="Courier New" pitchFamily="34" charset="-122"/>
                <a:cs typeface="Courier New" pitchFamily="34" charset="-120"/>
              </a:rPr>
              <a:t># update: 1.1.0 → drift + incidents</a:t>
            </a:r>
            <a:endParaRPr lang="en-US" sz="1050" dirty="0"/>
          </a:p>
        </p:txBody>
      </p:sp>
      <p:sp>
        <p:nvSpPr>
          <p:cNvPr id="22" name="Text 19"/>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github.com/bilal-feroz/PluginFence   ·   MIT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PluginFence - a runtime firewall for IntelliJ plugins</dc:title>
  <dc:subject>PptxGenJS Presentation</dc:subject>
  <dc:creator>PluginFence</dc:creator>
  <cp:lastModifiedBy>PluginFence</cp:lastModifiedBy>
  <cp:revision>1</cp:revision>
  <dcterms:created xsi:type="dcterms:W3CDTF">2026-09-20T17:38:48Z</dcterms:created>
  <dcterms:modified xsi:type="dcterms:W3CDTF">2026-09-20T17:38:48Z</dcterms:modified>
</cp:coreProperties>
</file>